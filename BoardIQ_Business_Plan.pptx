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Your Building ($/unit)</c:v>
                </c:pt>
              </c:strCache>
            </c:strRef>
          </c:tx>
          <c:spPr>
            <a:solidFill>
              <a:srgbClr val="C4893A"/>
            </a:solidFill>
          </c:spPr>
          <c:cat>
            <c:strRef>
              <c:f>Sheet1!$A$2:$A$7</c:f>
              <c:strCache>
                <c:ptCount val="6"/>
                <c:pt idx="0">
                  <c:v>Elevator</c:v>
                </c:pt>
                <c:pt idx="1">
                  <c:v>Insurance</c:v>
                </c:pt>
                <c:pt idx="2">
                  <c:v>Plumbing</c:v>
                </c:pt>
                <c:pt idx="3">
                  <c:v>HVAC</c:v>
                </c:pt>
                <c:pt idx="4">
                  <c:v>Pest Control</c:v>
                </c:pt>
                <c:pt idx="5">
                  <c:v>Cleaning</c:v>
                </c:pt>
              </c:strCache>
            </c:strRef>
          </c:cat>
          <c:val>
            <c:numRef>
              <c:f>Sheet1!$B$2:$B$7</c:f>
              <c:numCache>
                <c:formatCode>General</c:formatCode>
                <c:ptCount val="6"/>
                <c:pt idx="0">
                  <c:v>81</c:v>
                </c:pt>
                <c:pt idx="1">
                  <c:v>504</c:v>
                </c:pt>
                <c:pt idx="2">
                  <c:v>366</c:v>
                </c:pt>
                <c:pt idx="3">
                  <c:v>154</c:v>
                </c:pt>
                <c:pt idx="4">
                  <c:v>104</c:v>
                </c:pt>
                <c:pt idx="5">
                  <c:v>167</c:v>
                </c:pt>
              </c:numCache>
            </c:numRef>
          </c:val>
        </c:ser>
        <c:ser>
          <c:idx val="1"/>
          <c:order val="1"/>
          <c:tx>
            <c:strRef>
              <c:f>Sheet1!$C$1</c:f>
              <c:strCache>
                <c:ptCount val="1"/>
                <c:pt idx="0">
                  <c:v>Network Median ($/unit)</c:v>
                </c:pt>
              </c:strCache>
            </c:strRef>
          </c:tx>
          <c:spPr>
            <a:solidFill>
              <a:srgbClr val="D5D0C8"/>
            </a:solidFill>
          </c:spPr>
          <c:cat>
            <c:strRef>
              <c:f>Sheet1!$A$2:$A$7</c:f>
              <c:strCache>
                <c:ptCount val="6"/>
                <c:pt idx="0">
                  <c:v>Elevator</c:v>
                </c:pt>
                <c:pt idx="1">
                  <c:v>Insurance</c:v>
                </c:pt>
                <c:pt idx="2">
                  <c:v>Plumbing</c:v>
                </c:pt>
                <c:pt idx="3">
                  <c:v>HVAC</c:v>
                </c:pt>
                <c:pt idx="4">
                  <c:v>Pest Control</c:v>
                </c:pt>
                <c:pt idx="5">
                  <c:v>Cleaning</c:v>
                </c:pt>
              </c:strCache>
            </c:strRef>
          </c:cat>
          <c:val>
            <c:numRef>
              <c:f>Sheet1!$C$2:$C$7</c:f>
              <c:numCache>
                <c:formatCode>General</c:formatCode>
                <c:ptCount val="6"/>
                <c:pt idx="0">
                  <c:v>97</c:v>
                </c:pt>
                <c:pt idx="1">
                  <c:v>420</c:v>
                </c:pt>
                <c:pt idx="2">
                  <c:v>194</c:v>
                </c:pt>
                <c:pt idx="3">
                  <c:v>128</c:v>
                </c:pt>
                <c:pt idx="4">
                  <c:v>85</c:v>
                </c:pt>
                <c:pt idx="5">
                  <c:v>142</c:v>
                </c:pt>
              </c:numCache>
            </c:numRef>
          </c:val>
        </c:ser>
        <c:gapWidth val="12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E5E0D5"/>
              </a:solidFill>
            </a:ln>
          </c:spPr>
        </c:majorGridlines>
        <c:majorTickMark val="out"/>
        <c:minorTickMark val="none"/>
        <c:tickLblPos val="nextTo"/>
        <c:txPr>
          <a:bodyPr/>
          <a:lstStyle/>
          <a:p>
            <a:pPr>
              <a:defRPr sz="900"/>
            </a:pPr>
          </a:p>
        </c:txPr>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2825"/>
        </a:solidFill>
        <a:effectLst/>
      </p:bgPr>
    </p:bg>
    <p:spTree>
      <p:nvGrpSpPr>
        <p:cNvPr id="1" name=""/>
        <p:cNvGrpSpPr/>
        <p:nvPr/>
      </p:nvGrpSpPr>
      <p:grpSpPr/>
      <p:sp>
        <p:nvSpPr>
          <p:cNvPr id="2" name="Rectangle 1"/>
          <p:cNvSpPr/>
          <p:nvPr/>
        </p:nvSpPr>
        <p:spPr>
          <a:xfrm>
            <a:off x="1097280" y="1828800"/>
            <a:ext cx="1828800" cy="381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7315200" cy="1097280"/>
          </a:xfrm>
          <a:prstGeom prst="rect">
            <a:avLst/>
          </a:prstGeom>
          <a:noFill/>
        </p:spPr>
        <p:txBody>
          <a:bodyPr wrap="square"/>
          <a:lstStyle/>
          <a:p>
            <a:pPr algn="l">
              <a:spcBef>
                <a:spcPts val="0"/>
              </a:spcBef>
              <a:spcAft>
                <a:spcPts val="0"/>
              </a:spcAft>
              <a:defRPr sz="5400" b="1">
                <a:solidFill>
                  <a:srgbClr val="FFFFFF"/>
                </a:solidFill>
                <a:latin typeface="Georgia"/>
              </a:defRPr>
            </a:pPr>
            <a:r>
              <a:t>BoardIQ</a:t>
            </a:r>
          </a:p>
        </p:txBody>
      </p:sp>
      <p:sp>
        <p:nvSpPr>
          <p:cNvPr id="4" name="TextBox 3"/>
          <p:cNvSpPr txBox="1"/>
          <p:nvPr/>
        </p:nvSpPr>
        <p:spPr>
          <a:xfrm>
            <a:off x="1097280" y="3200400"/>
            <a:ext cx="7315200" cy="548640"/>
          </a:xfrm>
          <a:prstGeom prst="rect">
            <a:avLst/>
          </a:prstGeom>
          <a:noFill/>
        </p:spPr>
        <p:txBody>
          <a:bodyPr wrap="square"/>
          <a:lstStyle/>
          <a:p>
            <a:pPr algn="l">
              <a:spcBef>
                <a:spcPts val="0"/>
              </a:spcBef>
              <a:spcAft>
                <a:spcPts val="0"/>
              </a:spcAft>
              <a:defRPr sz="2200" b="0">
                <a:solidFill>
                  <a:srgbClr val="C4893A"/>
                </a:solidFill>
                <a:latin typeface="Calibri"/>
              </a:defRPr>
            </a:pPr>
            <a:r>
              <a:t>The Smart Platform for NYC Co-op &amp; Condo Boards</a:t>
            </a:r>
          </a:p>
        </p:txBody>
      </p:sp>
      <p:sp>
        <p:nvSpPr>
          <p:cNvPr id="5" name="TextBox 4"/>
          <p:cNvSpPr txBox="1"/>
          <p:nvPr/>
        </p:nvSpPr>
        <p:spPr>
          <a:xfrm>
            <a:off x="1097280" y="3931920"/>
            <a:ext cx="7315200" cy="457200"/>
          </a:xfrm>
          <a:prstGeom prst="rect">
            <a:avLst/>
          </a:prstGeom>
          <a:noFill/>
        </p:spPr>
        <p:txBody>
          <a:bodyPr wrap="square"/>
          <a:lstStyle/>
          <a:p>
            <a:pPr algn="l">
              <a:spcBef>
                <a:spcPts val="0"/>
              </a:spcBef>
              <a:spcAft>
                <a:spcPts val="0"/>
              </a:spcAft>
              <a:defRPr sz="1500" b="0">
                <a:solidFill>
                  <a:srgbClr val="8C857B"/>
                </a:solidFill>
                <a:latin typeface="Calibri"/>
              </a:defRPr>
            </a:pPr>
            <a:r>
              <a:t>Stay compliant. Reduce costs. Make confident vendor decisions.</a:t>
            </a:r>
          </a:p>
        </p:txBody>
      </p:sp>
      <p:sp>
        <p:nvSpPr>
          <p:cNvPr id="6" name="TextBox 5"/>
          <p:cNvSpPr txBox="1"/>
          <p:nvPr/>
        </p:nvSpPr>
        <p:spPr>
          <a:xfrm>
            <a:off x="1097280" y="5943600"/>
            <a:ext cx="4572000" cy="365760"/>
          </a:xfrm>
          <a:prstGeom prst="rect">
            <a:avLst/>
          </a:prstGeom>
          <a:noFill/>
        </p:spPr>
        <p:txBody>
          <a:bodyPr wrap="square"/>
          <a:lstStyle/>
          <a:p>
            <a:pPr algn="l">
              <a:spcBef>
                <a:spcPts val="0"/>
              </a:spcBef>
              <a:spcAft>
                <a:spcPts val="0"/>
              </a:spcAft>
              <a:defRPr sz="1200" b="0">
                <a:solidFill>
                  <a:srgbClr val="8C857B"/>
                </a:solidFill>
                <a:latin typeface="Calibri"/>
              </a:defRPr>
            </a:pPr>
            <a:r>
              <a:t>Business Plan  |  February 2026</a:t>
            </a:r>
          </a:p>
        </p:txBody>
      </p:sp>
      <p:sp>
        <p:nvSpPr>
          <p:cNvPr id="7" name="Rectangle 6"/>
          <p:cNvSpPr/>
          <p:nvPr/>
        </p:nvSpPr>
        <p:spPr>
          <a:xfrm>
            <a:off x="9144000" y="0"/>
            <a:ext cx="3047695" cy="68580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0" y="0"/>
            <a:ext cx="3047695" cy="68580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914400"/>
            <a:ext cx="50800" cy="50292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THE PROBLEM</a:t>
            </a:r>
          </a:p>
        </p:txBody>
      </p:sp>
      <p:sp>
        <p:nvSpPr>
          <p:cNvPr id="3" name="TextBox 2"/>
          <p:cNvSpPr txBox="1"/>
          <p:nvPr/>
        </p:nvSpPr>
        <p:spPr>
          <a:xfrm>
            <a:off x="731520" y="822960"/>
            <a:ext cx="10058400" cy="640080"/>
          </a:xfrm>
          <a:prstGeom prst="rect">
            <a:avLst/>
          </a:prstGeom>
          <a:noFill/>
        </p:spPr>
        <p:txBody>
          <a:bodyPr wrap="square"/>
          <a:lstStyle/>
          <a:p>
            <a:pPr algn="l">
              <a:spcBef>
                <a:spcPts val="0"/>
              </a:spcBef>
              <a:spcAft>
                <a:spcPts val="0"/>
              </a:spcAft>
              <a:defRPr sz="3200" b="1">
                <a:solidFill>
                  <a:srgbClr val="2C2825"/>
                </a:solidFill>
                <a:latin typeface="Georgia"/>
              </a:defRPr>
            </a:pPr>
            <a:r>
              <a:t>Running a Co-op Is Getting Harder</a:t>
            </a:r>
          </a:p>
        </p:txBody>
      </p:sp>
      <p:sp>
        <p:nvSpPr>
          <p:cNvPr id="4" name="Rectangle 3"/>
          <p:cNvSpPr/>
          <p:nvPr/>
        </p:nvSpPr>
        <p:spPr>
          <a:xfrm>
            <a:off x="731520" y="1645920"/>
            <a:ext cx="5029200" cy="192024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63500" cy="19202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371600" cy="365760"/>
          </a:xfrm>
          <a:prstGeom prst="rect">
            <a:avLst/>
          </a:prstGeom>
          <a:noFill/>
        </p:spPr>
        <p:txBody>
          <a:bodyPr wrap="square"/>
          <a:lstStyle/>
          <a:p>
            <a:pPr algn="l">
              <a:spcBef>
                <a:spcPts val="0"/>
              </a:spcBef>
              <a:spcAft>
                <a:spcPts val="0"/>
              </a:spcAft>
              <a:defRPr sz="2400" b="1">
                <a:solidFill>
                  <a:srgbClr val="C0392B"/>
                </a:solidFill>
                <a:latin typeface="Georgia"/>
              </a:defRPr>
            </a:pPr>
            <a:r>
              <a:t>$58K</a:t>
            </a:r>
          </a:p>
        </p:txBody>
      </p:sp>
      <p:sp>
        <p:nvSpPr>
          <p:cNvPr id="7" name="TextBox 6"/>
          <p:cNvSpPr txBox="1"/>
          <p:nvPr/>
        </p:nvSpPr>
        <p:spPr>
          <a:xfrm>
            <a:off x="2377440" y="1783080"/>
            <a:ext cx="2926080" cy="320040"/>
          </a:xfrm>
          <a:prstGeom prst="rect">
            <a:avLst/>
          </a:prstGeom>
          <a:noFill/>
        </p:spPr>
        <p:txBody>
          <a:bodyPr wrap="square"/>
          <a:lstStyle/>
          <a:p>
            <a:pPr algn="l">
              <a:spcBef>
                <a:spcPts val="0"/>
              </a:spcBef>
              <a:spcAft>
                <a:spcPts val="0"/>
              </a:spcAft>
              <a:defRPr sz="1500" b="1">
                <a:solidFill>
                  <a:srgbClr val="2C2825"/>
                </a:solidFill>
                <a:latin typeface="Calibri"/>
              </a:defRPr>
            </a:pPr>
            <a:r>
              <a:t>Average Annual Penalty</a:t>
            </a:r>
          </a:p>
        </p:txBody>
      </p:sp>
      <p:sp>
        <p:nvSpPr>
          <p:cNvPr id="8" name="TextBox 7"/>
          <p:cNvSpPr txBox="1"/>
          <p:nvPr/>
        </p:nvSpPr>
        <p:spPr>
          <a:xfrm>
            <a:off x="1005840" y="2240280"/>
            <a:ext cx="4572000" cy="1188720"/>
          </a:xfrm>
          <a:prstGeom prst="rect">
            <a:avLst/>
          </a:prstGeom>
          <a:noFill/>
        </p:spPr>
        <p:txBody>
          <a:bodyPr wrap="square"/>
          <a:lstStyle/>
          <a:p>
            <a:pPr algn="l">
              <a:spcBef>
                <a:spcPts val="0"/>
              </a:spcBef>
              <a:spcAft>
                <a:spcPts val="0"/>
              </a:spcAft>
              <a:defRPr sz="1100" b="0">
                <a:solidFill>
                  <a:srgbClr val="6B655E"/>
                </a:solidFill>
                <a:latin typeface="Calibri"/>
              </a:defRPr>
            </a:pPr>
            <a:r>
              <a:t>Local Law 97 alone can cost your building $58,000/year in carbon emissions fines if you miss the deadline.</a:t>
            </a:r>
          </a:p>
        </p:txBody>
      </p:sp>
      <p:sp>
        <p:nvSpPr>
          <p:cNvPr id="9" name="Rectangle 8"/>
          <p:cNvSpPr/>
          <p:nvPr/>
        </p:nvSpPr>
        <p:spPr>
          <a:xfrm>
            <a:off x="6217920" y="1645920"/>
            <a:ext cx="5029200" cy="192024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63500" cy="19202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55648"/>
            <a:ext cx="1371600" cy="365760"/>
          </a:xfrm>
          <a:prstGeom prst="rect">
            <a:avLst/>
          </a:prstGeom>
          <a:noFill/>
        </p:spPr>
        <p:txBody>
          <a:bodyPr wrap="square"/>
          <a:lstStyle/>
          <a:p>
            <a:pPr algn="l">
              <a:spcBef>
                <a:spcPts val="0"/>
              </a:spcBef>
              <a:spcAft>
                <a:spcPts val="0"/>
              </a:spcAft>
              <a:defRPr sz="2400" b="1">
                <a:solidFill>
                  <a:srgbClr val="C0392B"/>
                </a:solidFill>
                <a:latin typeface="Georgia"/>
              </a:defRPr>
            </a:pPr>
            <a:r>
              <a:t>6+</a:t>
            </a:r>
          </a:p>
        </p:txBody>
      </p:sp>
      <p:sp>
        <p:nvSpPr>
          <p:cNvPr id="12" name="TextBox 11"/>
          <p:cNvSpPr txBox="1"/>
          <p:nvPr/>
        </p:nvSpPr>
        <p:spPr>
          <a:xfrm>
            <a:off x="7863840" y="1783080"/>
            <a:ext cx="2926080" cy="320040"/>
          </a:xfrm>
          <a:prstGeom prst="rect">
            <a:avLst/>
          </a:prstGeom>
          <a:noFill/>
        </p:spPr>
        <p:txBody>
          <a:bodyPr wrap="square"/>
          <a:lstStyle/>
          <a:p>
            <a:pPr algn="l">
              <a:spcBef>
                <a:spcPts val="0"/>
              </a:spcBef>
              <a:spcAft>
                <a:spcPts val="0"/>
              </a:spcAft>
              <a:defRPr sz="1500" b="1">
                <a:solidFill>
                  <a:srgbClr val="2C2825"/>
                </a:solidFill>
                <a:latin typeface="Calibri"/>
              </a:defRPr>
            </a:pPr>
            <a:r>
              <a:t>Compliance Deadlines</a:t>
            </a:r>
          </a:p>
        </p:txBody>
      </p:sp>
      <p:sp>
        <p:nvSpPr>
          <p:cNvPr id="13" name="TextBox 12"/>
          <p:cNvSpPr txBox="1"/>
          <p:nvPr/>
        </p:nvSpPr>
        <p:spPr>
          <a:xfrm>
            <a:off x="6492240" y="2240280"/>
            <a:ext cx="4572000" cy="1188720"/>
          </a:xfrm>
          <a:prstGeom prst="rect">
            <a:avLst/>
          </a:prstGeom>
          <a:noFill/>
        </p:spPr>
        <p:txBody>
          <a:bodyPr wrap="square"/>
          <a:lstStyle/>
          <a:p>
            <a:pPr algn="l">
              <a:spcBef>
                <a:spcPts val="0"/>
              </a:spcBef>
              <a:spcAft>
                <a:spcPts val="0"/>
              </a:spcAft>
              <a:defRPr sz="1100" b="0">
                <a:solidFill>
                  <a:srgbClr val="6B655E"/>
                </a:solidFill>
                <a:latin typeface="Calibri"/>
              </a:defRPr>
            </a:pPr>
            <a:r>
              <a:t>NYC buildings face overlapping deadlines — LL11, LL87, LL97, LL152, elevator inspections, fire safety — each with its own penalties.</a:t>
            </a:r>
          </a:p>
        </p:txBody>
      </p:sp>
      <p:sp>
        <p:nvSpPr>
          <p:cNvPr id="14" name="Rectangle 13"/>
          <p:cNvSpPr/>
          <p:nvPr/>
        </p:nvSpPr>
        <p:spPr>
          <a:xfrm>
            <a:off x="731520" y="3840480"/>
            <a:ext cx="5029200" cy="192024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840480"/>
            <a:ext cx="63500" cy="192024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950208"/>
            <a:ext cx="1371600" cy="365760"/>
          </a:xfrm>
          <a:prstGeom prst="rect">
            <a:avLst/>
          </a:prstGeom>
          <a:noFill/>
        </p:spPr>
        <p:txBody>
          <a:bodyPr wrap="square"/>
          <a:lstStyle/>
          <a:p>
            <a:pPr algn="l">
              <a:spcBef>
                <a:spcPts val="0"/>
              </a:spcBef>
              <a:spcAft>
                <a:spcPts val="0"/>
              </a:spcAft>
              <a:defRPr sz="2400" b="1">
                <a:solidFill>
                  <a:srgbClr val="C4893A"/>
                </a:solidFill>
                <a:latin typeface="Georgia"/>
              </a:defRPr>
            </a:pPr>
            <a:r>
              <a:t>89%</a:t>
            </a:r>
          </a:p>
        </p:txBody>
      </p:sp>
      <p:sp>
        <p:nvSpPr>
          <p:cNvPr id="17" name="TextBox 16"/>
          <p:cNvSpPr txBox="1"/>
          <p:nvPr/>
        </p:nvSpPr>
        <p:spPr>
          <a:xfrm>
            <a:off x="2377440" y="3977640"/>
            <a:ext cx="2926080" cy="320040"/>
          </a:xfrm>
          <a:prstGeom prst="rect">
            <a:avLst/>
          </a:prstGeom>
          <a:noFill/>
        </p:spPr>
        <p:txBody>
          <a:bodyPr wrap="square"/>
          <a:lstStyle/>
          <a:p>
            <a:pPr algn="l">
              <a:spcBef>
                <a:spcPts val="0"/>
              </a:spcBef>
              <a:spcAft>
                <a:spcPts val="0"/>
              </a:spcAft>
              <a:defRPr sz="1500" b="1">
                <a:solidFill>
                  <a:srgbClr val="2C2825"/>
                </a:solidFill>
                <a:latin typeface="Calibri"/>
              </a:defRPr>
            </a:pPr>
            <a:r>
              <a:t>Boards Overpay</a:t>
            </a:r>
          </a:p>
        </p:txBody>
      </p:sp>
      <p:sp>
        <p:nvSpPr>
          <p:cNvPr id="18" name="TextBox 17"/>
          <p:cNvSpPr txBox="1"/>
          <p:nvPr/>
        </p:nvSpPr>
        <p:spPr>
          <a:xfrm>
            <a:off x="1005840" y="4434840"/>
            <a:ext cx="4572000" cy="1188720"/>
          </a:xfrm>
          <a:prstGeom prst="rect">
            <a:avLst/>
          </a:prstGeom>
          <a:noFill/>
        </p:spPr>
        <p:txBody>
          <a:bodyPr wrap="square"/>
          <a:lstStyle/>
          <a:p>
            <a:pPr algn="l">
              <a:spcBef>
                <a:spcPts val="0"/>
              </a:spcBef>
              <a:spcAft>
                <a:spcPts val="0"/>
              </a:spcAft>
              <a:defRPr sz="1100" b="0">
                <a:solidFill>
                  <a:srgbClr val="6B655E"/>
                </a:solidFill>
                <a:latin typeface="Calibri"/>
              </a:defRPr>
            </a:pPr>
            <a:r>
              <a:t>Without benchmarking data, most boards have no idea if their vendor contracts are above market rate.</a:t>
            </a:r>
          </a:p>
        </p:txBody>
      </p:sp>
      <p:sp>
        <p:nvSpPr>
          <p:cNvPr id="19" name="Rectangle 18"/>
          <p:cNvSpPr/>
          <p:nvPr/>
        </p:nvSpPr>
        <p:spPr>
          <a:xfrm>
            <a:off x="6217920" y="3840480"/>
            <a:ext cx="5029200" cy="192024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840480"/>
            <a:ext cx="63500" cy="192024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950208"/>
            <a:ext cx="1371600" cy="365760"/>
          </a:xfrm>
          <a:prstGeom prst="rect">
            <a:avLst/>
          </a:prstGeom>
          <a:noFill/>
        </p:spPr>
        <p:txBody>
          <a:bodyPr wrap="square"/>
          <a:lstStyle/>
          <a:p>
            <a:pPr algn="l">
              <a:spcBef>
                <a:spcPts val="0"/>
              </a:spcBef>
              <a:spcAft>
                <a:spcPts val="0"/>
              </a:spcAft>
              <a:defRPr sz="2400" b="1">
                <a:solidFill>
                  <a:srgbClr val="C4893A"/>
                </a:solidFill>
                <a:latin typeface="Georgia"/>
              </a:defRPr>
            </a:pPr>
            <a:r>
              <a:t>0</a:t>
            </a:r>
          </a:p>
        </p:txBody>
      </p:sp>
      <p:sp>
        <p:nvSpPr>
          <p:cNvPr id="22" name="TextBox 21"/>
          <p:cNvSpPr txBox="1"/>
          <p:nvPr/>
        </p:nvSpPr>
        <p:spPr>
          <a:xfrm>
            <a:off x="7863840" y="3977640"/>
            <a:ext cx="2926080" cy="320040"/>
          </a:xfrm>
          <a:prstGeom prst="rect">
            <a:avLst/>
          </a:prstGeom>
          <a:noFill/>
        </p:spPr>
        <p:txBody>
          <a:bodyPr wrap="square"/>
          <a:lstStyle/>
          <a:p>
            <a:pPr algn="l">
              <a:spcBef>
                <a:spcPts val="0"/>
              </a:spcBef>
              <a:spcAft>
                <a:spcPts val="0"/>
              </a:spcAft>
              <a:defRPr sz="1500" b="1">
                <a:solidFill>
                  <a:srgbClr val="2C2825"/>
                </a:solidFill>
                <a:latin typeface="Calibri"/>
              </a:defRPr>
            </a:pPr>
            <a:r>
              <a:t>Visibility Into Contracts</a:t>
            </a:r>
          </a:p>
        </p:txBody>
      </p:sp>
      <p:sp>
        <p:nvSpPr>
          <p:cNvPr id="23" name="TextBox 22"/>
          <p:cNvSpPr txBox="1"/>
          <p:nvPr/>
        </p:nvSpPr>
        <p:spPr>
          <a:xfrm>
            <a:off x="6492240" y="4434840"/>
            <a:ext cx="4572000" cy="1188720"/>
          </a:xfrm>
          <a:prstGeom prst="rect">
            <a:avLst/>
          </a:prstGeom>
          <a:noFill/>
        </p:spPr>
        <p:txBody>
          <a:bodyPr wrap="square"/>
          <a:lstStyle/>
          <a:p>
            <a:pPr algn="l">
              <a:spcBef>
                <a:spcPts val="0"/>
              </a:spcBef>
              <a:spcAft>
                <a:spcPts val="0"/>
              </a:spcAft>
              <a:defRPr sz="1100" b="0">
                <a:solidFill>
                  <a:srgbClr val="6B655E"/>
                </a:solidFill>
                <a:latin typeface="Calibri"/>
              </a:defRPr>
            </a:pPr>
            <a:r>
              <a:t>Many boards don't even have copies of their own contracts on file. Expired agreements go unnoticed for months.</a:t>
            </a:r>
          </a:p>
        </p:txBody>
      </p:sp>
      <p:sp>
        <p:nvSpPr>
          <p:cNvPr id="24" name="TextBox 23"/>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THE SOLUTION</a:t>
            </a:r>
          </a:p>
        </p:txBody>
      </p:sp>
      <p:sp>
        <p:nvSpPr>
          <p:cNvPr id="3" name="TextBox 2"/>
          <p:cNvSpPr txBox="1"/>
          <p:nvPr/>
        </p:nvSpPr>
        <p:spPr>
          <a:xfrm>
            <a:off x="731520" y="822960"/>
            <a:ext cx="10515600" cy="640080"/>
          </a:xfrm>
          <a:prstGeom prst="rect">
            <a:avLst/>
          </a:prstGeom>
          <a:noFill/>
        </p:spPr>
        <p:txBody>
          <a:bodyPr wrap="square"/>
          <a:lstStyle/>
          <a:p>
            <a:pPr algn="l">
              <a:spcBef>
                <a:spcPts val="0"/>
              </a:spcBef>
              <a:spcAft>
                <a:spcPts val="0"/>
              </a:spcAft>
              <a:defRPr sz="3200" b="1">
                <a:solidFill>
                  <a:srgbClr val="2C2825"/>
                </a:solidFill>
                <a:latin typeface="Georgia"/>
              </a:defRPr>
            </a:pPr>
            <a:r>
              <a:t>BoardIQ: Your Building’s Command Center</a:t>
            </a:r>
          </a:p>
        </p:txBody>
      </p:sp>
      <p:sp>
        <p:nvSpPr>
          <p:cNvPr id="4" name="TextBox 3"/>
          <p:cNvSpPr txBox="1"/>
          <p:nvPr/>
        </p:nvSpPr>
        <p:spPr>
          <a:xfrm>
            <a:off x="731520" y="1508760"/>
            <a:ext cx="9144000" cy="640080"/>
          </a:xfrm>
          <a:prstGeom prst="rect">
            <a:avLst/>
          </a:prstGeom>
          <a:noFill/>
        </p:spPr>
        <p:txBody>
          <a:bodyPr wrap="square"/>
          <a:lstStyle/>
          <a:p>
            <a:pPr algn="l">
              <a:spcBef>
                <a:spcPts val="0"/>
              </a:spcBef>
              <a:spcAft>
                <a:spcPts val="0"/>
              </a:spcAft>
              <a:defRPr sz="1400" b="0">
                <a:solidFill>
                  <a:srgbClr val="6B655E"/>
                </a:solidFill>
                <a:latin typeface="Calibri"/>
              </a:defRPr>
            </a:pPr>
            <a:r>
              <a:t>One platform to track compliance deadlines, benchmark vendor costs, manage contracts, and run competitive bids — so your board makes smarter decisions with less effort.</a:t>
            </a:r>
          </a:p>
        </p:txBody>
      </p:sp>
      <p:sp>
        <p:nvSpPr>
          <p:cNvPr id="5" name="Oval 4"/>
          <p:cNvSpPr/>
          <p:nvPr/>
        </p:nvSpPr>
        <p:spPr>
          <a:xfrm>
            <a:off x="914400" y="2377440"/>
            <a:ext cx="457200" cy="457200"/>
          </a:xfrm>
          <a:prstGeom prst="ellipse">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Georgia"/>
              </a:defRPr>
            </a:pPr>
            <a:r>
              <a:t>1</a:t>
            </a:r>
          </a:p>
        </p:txBody>
      </p:sp>
      <p:sp>
        <p:nvSpPr>
          <p:cNvPr id="6" name="TextBox 5"/>
          <p:cNvSpPr txBox="1"/>
          <p:nvPr/>
        </p:nvSpPr>
        <p:spPr>
          <a:xfrm>
            <a:off x="1554480" y="2395728"/>
            <a:ext cx="4572000" cy="365760"/>
          </a:xfrm>
          <a:prstGeom prst="rect">
            <a:avLst/>
          </a:prstGeom>
          <a:noFill/>
        </p:spPr>
        <p:txBody>
          <a:bodyPr wrap="square"/>
          <a:lstStyle/>
          <a:p>
            <a:pPr algn="l">
              <a:spcBef>
                <a:spcPts val="0"/>
              </a:spcBef>
              <a:spcAft>
                <a:spcPts val="0"/>
              </a:spcAft>
              <a:defRPr sz="1600" b="1">
                <a:solidFill>
                  <a:srgbClr val="2C2825"/>
                </a:solidFill>
                <a:latin typeface="Georgia"/>
              </a:defRPr>
            </a:pPr>
            <a:r>
              <a:t>Compliance Tracking</a:t>
            </a:r>
          </a:p>
        </p:txBody>
      </p:sp>
      <p:sp>
        <p:nvSpPr>
          <p:cNvPr id="7" name="TextBox 6"/>
          <p:cNvSpPr txBox="1"/>
          <p:nvPr/>
        </p:nvSpPr>
        <p:spPr>
          <a:xfrm>
            <a:off x="1554480" y="2743200"/>
            <a:ext cx="9144000" cy="822960"/>
          </a:xfrm>
          <a:prstGeom prst="rect">
            <a:avLst/>
          </a:prstGeom>
          <a:noFill/>
        </p:spPr>
        <p:txBody>
          <a:bodyPr wrap="square"/>
          <a:lstStyle/>
          <a:p>
            <a:pPr algn="l">
              <a:spcBef>
                <a:spcPts val="0"/>
              </a:spcBef>
              <a:spcAft>
                <a:spcPts val="0"/>
              </a:spcAft>
              <a:defRPr sz="1200" b="0">
                <a:solidFill>
                  <a:srgbClr val="6B655E"/>
                </a:solidFill>
                <a:latin typeface="Calibri"/>
              </a:defRPr>
            </a:pPr>
            <a:r>
              <a:t>Never miss a deadline. BoardIQ monitors every NYC compliance requirement — Local Law 11, 87, 97, 152, elevator inspections, fire safety — and alerts your board months in advance with cost estimates and action steps.</a:t>
            </a:r>
          </a:p>
        </p:txBody>
      </p:sp>
      <p:sp>
        <p:nvSpPr>
          <p:cNvPr id="8" name="Oval 7"/>
          <p:cNvSpPr/>
          <p:nvPr/>
        </p:nvSpPr>
        <p:spPr>
          <a:xfrm>
            <a:off x="914400" y="3794760"/>
            <a:ext cx="457200" cy="457200"/>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Georgia"/>
              </a:defRPr>
            </a:pPr>
            <a:r>
              <a:t>2</a:t>
            </a:r>
          </a:p>
        </p:txBody>
      </p:sp>
      <p:sp>
        <p:nvSpPr>
          <p:cNvPr id="9" name="TextBox 8"/>
          <p:cNvSpPr txBox="1"/>
          <p:nvPr/>
        </p:nvSpPr>
        <p:spPr>
          <a:xfrm>
            <a:off x="1554480" y="3813048"/>
            <a:ext cx="4572000" cy="365760"/>
          </a:xfrm>
          <a:prstGeom prst="rect">
            <a:avLst/>
          </a:prstGeom>
          <a:noFill/>
        </p:spPr>
        <p:txBody>
          <a:bodyPr wrap="square"/>
          <a:lstStyle/>
          <a:p>
            <a:pPr algn="l">
              <a:spcBef>
                <a:spcPts val="0"/>
              </a:spcBef>
              <a:spcAft>
                <a:spcPts val="0"/>
              </a:spcAft>
              <a:defRPr sz="1600" b="1">
                <a:solidFill>
                  <a:srgbClr val="2C2825"/>
                </a:solidFill>
                <a:latin typeface="Georgia"/>
              </a:defRPr>
            </a:pPr>
            <a:r>
              <a:t>Cost Benchmarking</a:t>
            </a:r>
          </a:p>
        </p:txBody>
      </p:sp>
      <p:sp>
        <p:nvSpPr>
          <p:cNvPr id="10" name="TextBox 9"/>
          <p:cNvSpPr txBox="1"/>
          <p:nvPr/>
        </p:nvSpPr>
        <p:spPr>
          <a:xfrm>
            <a:off x="1554480" y="4160520"/>
            <a:ext cx="9144000" cy="822960"/>
          </a:xfrm>
          <a:prstGeom prst="rect">
            <a:avLst/>
          </a:prstGeom>
          <a:noFill/>
        </p:spPr>
        <p:txBody>
          <a:bodyPr wrap="square"/>
          <a:lstStyle/>
          <a:p>
            <a:pPr algn="l">
              <a:spcBef>
                <a:spcPts val="0"/>
              </a:spcBef>
              <a:spcAft>
                <a:spcPts val="0"/>
              </a:spcAft>
              <a:defRPr sz="1200" b="0">
                <a:solidFill>
                  <a:srgbClr val="6B655E"/>
                </a:solidFill>
                <a:latin typeface="Calibri"/>
              </a:defRPr>
            </a:pPr>
            <a:r>
              <a:t>Know if you’re overpaying. Compare every vendor contract against similar buildings in your neighborhood, size, and building type. See exactly where you stand — and where you can save.</a:t>
            </a:r>
          </a:p>
        </p:txBody>
      </p:sp>
      <p:sp>
        <p:nvSpPr>
          <p:cNvPr id="11" name="Oval 10"/>
          <p:cNvSpPr/>
          <p:nvPr/>
        </p:nvSpPr>
        <p:spPr>
          <a:xfrm>
            <a:off x="914400" y="5212080"/>
            <a:ext cx="457200" cy="457200"/>
          </a:xfrm>
          <a:prstGeom prst="ellipse">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Georgia"/>
              </a:defRPr>
            </a:pPr>
            <a:r>
              <a:t>3</a:t>
            </a:r>
          </a:p>
        </p:txBody>
      </p:sp>
      <p:sp>
        <p:nvSpPr>
          <p:cNvPr id="12" name="TextBox 11"/>
          <p:cNvSpPr txBox="1"/>
          <p:nvPr/>
        </p:nvSpPr>
        <p:spPr>
          <a:xfrm>
            <a:off x="1554480" y="5230368"/>
            <a:ext cx="4572000" cy="365760"/>
          </a:xfrm>
          <a:prstGeom prst="rect">
            <a:avLst/>
          </a:prstGeom>
          <a:noFill/>
        </p:spPr>
        <p:txBody>
          <a:bodyPr wrap="square"/>
          <a:lstStyle/>
          <a:p>
            <a:pPr algn="l">
              <a:spcBef>
                <a:spcPts val="0"/>
              </a:spcBef>
              <a:spcAft>
                <a:spcPts val="0"/>
              </a:spcAft>
              <a:defRPr sz="1600" b="1">
                <a:solidFill>
                  <a:srgbClr val="2C2825"/>
                </a:solidFill>
                <a:latin typeface="Georgia"/>
              </a:defRPr>
            </a:pPr>
            <a:r>
              <a:t>BidBoard: Competitive Bidding</a:t>
            </a:r>
          </a:p>
        </p:txBody>
      </p:sp>
      <p:sp>
        <p:nvSpPr>
          <p:cNvPr id="13" name="TextBox 12"/>
          <p:cNvSpPr txBox="1"/>
          <p:nvPr/>
        </p:nvSpPr>
        <p:spPr>
          <a:xfrm>
            <a:off x="1554480" y="5577840"/>
            <a:ext cx="9144000" cy="822960"/>
          </a:xfrm>
          <a:prstGeom prst="rect">
            <a:avLst/>
          </a:prstGeom>
          <a:noFill/>
        </p:spPr>
        <p:txBody>
          <a:bodyPr wrap="square"/>
          <a:lstStyle/>
          <a:p>
            <a:pPr algn="l">
              <a:spcBef>
                <a:spcPts val="0"/>
              </a:spcBef>
              <a:spcAft>
                <a:spcPts val="0"/>
              </a:spcAft>
              <a:defRPr sz="1200" b="0">
                <a:solidFill>
                  <a:srgbClr val="6B655E"/>
                </a:solidFill>
                <a:latin typeface="Calibri"/>
              </a:defRPr>
            </a:pPr>
            <a:r>
              <a:t>Get better prices, faster. When a compliance deadline or contract expiration triggers a need, BoardIQ automatically creates a bid request and connects you with pre-vetted vendors who compete for your business.</a:t>
            </a:r>
          </a:p>
        </p:txBody>
      </p:sp>
      <p:sp>
        <p:nvSpPr>
          <p:cNvPr id="14" name="TextBox 13"/>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FEATURE DEEP DIVE</a:t>
            </a:r>
          </a:p>
        </p:txBody>
      </p:sp>
      <p:sp>
        <p:nvSpPr>
          <p:cNvPr id="3" name="TextBox 2"/>
          <p:cNvSpPr txBox="1"/>
          <p:nvPr/>
        </p:nvSpPr>
        <p:spPr>
          <a:xfrm>
            <a:off x="731520" y="822960"/>
            <a:ext cx="9144000" cy="640080"/>
          </a:xfrm>
          <a:prstGeom prst="rect">
            <a:avLst/>
          </a:prstGeom>
          <a:noFill/>
        </p:spPr>
        <p:txBody>
          <a:bodyPr wrap="square"/>
          <a:lstStyle/>
          <a:p>
            <a:pPr algn="l">
              <a:spcBef>
                <a:spcPts val="0"/>
              </a:spcBef>
              <a:spcAft>
                <a:spcPts val="0"/>
              </a:spcAft>
              <a:defRPr sz="3600" b="1">
                <a:solidFill>
                  <a:srgbClr val="2C2825"/>
                </a:solidFill>
                <a:latin typeface="Georgia"/>
              </a:defRPr>
            </a:pPr>
            <a:r>
              <a:t>Compliance Dashboard</a:t>
            </a:r>
          </a:p>
        </p:txBody>
      </p:sp>
      <p:sp>
        <p:nvSpPr>
          <p:cNvPr id="4" name="TextBox 3"/>
          <p:cNvSpPr txBox="1"/>
          <p:nvPr/>
        </p:nvSpPr>
        <p:spPr>
          <a:xfrm>
            <a:off x="731520" y="1554480"/>
            <a:ext cx="9144000" cy="457200"/>
          </a:xfrm>
          <a:prstGeom prst="rect">
            <a:avLst/>
          </a:prstGeom>
          <a:noFill/>
        </p:spPr>
        <p:txBody>
          <a:bodyPr wrap="square"/>
          <a:lstStyle/>
          <a:p>
            <a:pPr algn="l">
              <a:spcBef>
                <a:spcPts val="0"/>
              </a:spcBef>
              <a:spcAft>
                <a:spcPts val="0"/>
              </a:spcAft>
              <a:defRPr sz="1400" b="0">
                <a:solidFill>
                  <a:srgbClr val="6B655E"/>
                </a:solidFill>
                <a:latin typeface="Calibri"/>
              </a:defRPr>
            </a:pPr>
            <a:r>
              <a:t>Every deadline. Every law. Every consequence — in one view.</a:t>
            </a:r>
          </a:p>
        </p:txBody>
      </p:sp>
      <p:sp>
        <p:nvSpPr>
          <p:cNvPr id="5" name="Rectangle 4"/>
          <p:cNvSpPr/>
          <p:nvPr/>
        </p:nvSpPr>
        <p:spPr>
          <a:xfrm>
            <a:off x="731520" y="2194560"/>
            <a:ext cx="3657600" cy="4572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267712"/>
            <a:ext cx="3474720" cy="365760"/>
          </a:xfrm>
          <a:prstGeom prst="rect">
            <a:avLst/>
          </a:prstGeom>
          <a:noFill/>
        </p:spPr>
        <p:txBody>
          <a:bodyPr wrap="square"/>
          <a:lstStyle/>
          <a:p>
            <a:pPr algn="l">
              <a:spcBef>
                <a:spcPts val="0"/>
              </a:spcBef>
              <a:spcAft>
                <a:spcPts val="0"/>
              </a:spcAft>
              <a:defRPr sz="1000" b="1">
                <a:solidFill>
                  <a:srgbClr val="FFFFFF"/>
                </a:solidFill>
                <a:latin typeface="Calibri"/>
              </a:defRPr>
            </a:pPr>
            <a:r>
              <a:t>Law / Requirement</a:t>
            </a:r>
          </a:p>
        </p:txBody>
      </p:sp>
      <p:sp>
        <p:nvSpPr>
          <p:cNvPr id="7" name="Rectangle 6"/>
          <p:cNvSpPr/>
          <p:nvPr/>
        </p:nvSpPr>
        <p:spPr>
          <a:xfrm>
            <a:off x="4389120" y="2194560"/>
            <a:ext cx="1371600" cy="4572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2267712"/>
            <a:ext cx="1188720" cy="365760"/>
          </a:xfrm>
          <a:prstGeom prst="rect">
            <a:avLst/>
          </a:prstGeom>
          <a:noFill/>
        </p:spPr>
        <p:txBody>
          <a:bodyPr wrap="square"/>
          <a:lstStyle/>
          <a:p>
            <a:pPr algn="l">
              <a:spcBef>
                <a:spcPts val="0"/>
              </a:spcBef>
              <a:spcAft>
                <a:spcPts val="0"/>
              </a:spcAft>
              <a:defRPr sz="1000" b="1">
                <a:solidFill>
                  <a:srgbClr val="FFFFFF"/>
                </a:solidFill>
                <a:latin typeface="Calibri"/>
              </a:defRPr>
            </a:pPr>
            <a:r>
              <a:t>Due Date</a:t>
            </a:r>
          </a:p>
        </p:txBody>
      </p:sp>
      <p:sp>
        <p:nvSpPr>
          <p:cNvPr id="9" name="Rectangle 8"/>
          <p:cNvSpPr/>
          <p:nvPr/>
        </p:nvSpPr>
        <p:spPr>
          <a:xfrm>
            <a:off x="5760720" y="2194560"/>
            <a:ext cx="1371600" cy="4572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267712"/>
            <a:ext cx="1188720" cy="365760"/>
          </a:xfrm>
          <a:prstGeom prst="rect">
            <a:avLst/>
          </a:prstGeom>
          <a:noFill/>
        </p:spPr>
        <p:txBody>
          <a:bodyPr wrap="square"/>
          <a:lstStyle/>
          <a:p>
            <a:pPr algn="l">
              <a:spcBef>
                <a:spcPts val="0"/>
              </a:spcBef>
              <a:spcAft>
                <a:spcPts val="0"/>
              </a:spcAft>
              <a:defRPr sz="1000" b="1">
                <a:solidFill>
                  <a:srgbClr val="FFFFFF"/>
                </a:solidFill>
                <a:latin typeface="Calibri"/>
              </a:defRPr>
            </a:pPr>
            <a:r>
              <a:t>Time Left</a:t>
            </a:r>
          </a:p>
        </p:txBody>
      </p:sp>
      <p:sp>
        <p:nvSpPr>
          <p:cNvPr id="11" name="Rectangle 10"/>
          <p:cNvSpPr/>
          <p:nvPr/>
        </p:nvSpPr>
        <p:spPr>
          <a:xfrm>
            <a:off x="7132320" y="2194560"/>
            <a:ext cx="1097280" cy="4572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2267712"/>
            <a:ext cx="914400" cy="365760"/>
          </a:xfrm>
          <a:prstGeom prst="rect">
            <a:avLst/>
          </a:prstGeom>
          <a:noFill/>
        </p:spPr>
        <p:txBody>
          <a:bodyPr wrap="square"/>
          <a:lstStyle/>
          <a:p>
            <a:pPr algn="l">
              <a:spcBef>
                <a:spcPts val="0"/>
              </a:spcBef>
              <a:spcAft>
                <a:spcPts val="0"/>
              </a:spcAft>
              <a:defRPr sz="1000" b="1">
                <a:solidFill>
                  <a:srgbClr val="FFFFFF"/>
                </a:solidFill>
                <a:latin typeface="Calibri"/>
              </a:defRPr>
            </a:pPr>
            <a:r>
              <a:t>Urgency</a:t>
            </a:r>
          </a:p>
        </p:txBody>
      </p:sp>
      <p:sp>
        <p:nvSpPr>
          <p:cNvPr id="13" name="Rectangle 12"/>
          <p:cNvSpPr/>
          <p:nvPr/>
        </p:nvSpPr>
        <p:spPr>
          <a:xfrm>
            <a:off x="8229600" y="2194560"/>
            <a:ext cx="3017520" cy="4572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267712"/>
            <a:ext cx="2834640" cy="365760"/>
          </a:xfrm>
          <a:prstGeom prst="rect">
            <a:avLst/>
          </a:prstGeom>
          <a:noFill/>
        </p:spPr>
        <p:txBody>
          <a:bodyPr wrap="square"/>
          <a:lstStyle/>
          <a:p>
            <a:pPr algn="l">
              <a:spcBef>
                <a:spcPts val="0"/>
              </a:spcBef>
              <a:spcAft>
                <a:spcPts val="0"/>
              </a:spcAft>
              <a:defRPr sz="1000" b="1">
                <a:solidFill>
                  <a:srgbClr val="FFFFFF"/>
                </a:solidFill>
                <a:latin typeface="Calibri"/>
              </a:defRPr>
            </a:pPr>
            <a:r>
              <a:t>Consequence if Missed</a:t>
            </a:r>
          </a:p>
        </p:txBody>
      </p:sp>
      <p:sp>
        <p:nvSpPr>
          <p:cNvPr id="15" name="Rectangle 14"/>
          <p:cNvSpPr/>
          <p:nvPr/>
        </p:nvSpPr>
        <p:spPr>
          <a:xfrm>
            <a:off x="731520" y="2651760"/>
            <a:ext cx="3657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724912"/>
            <a:ext cx="3474720" cy="365760"/>
          </a:xfrm>
          <a:prstGeom prst="rect">
            <a:avLst/>
          </a:prstGeom>
          <a:noFill/>
        </p:spPr>
        <p:txBody>
          <a:bodyPr wrap="square"/>
          <a:lstStyle/>
          <a:p>
            <a:pPr algn="l">
              <a:spcBef>
                <a:spcPts val="0"/>
              </a:spcBef>
              <a:spcAft>
                <a:spcPts val="0"/>
              </a:spcAft>
              <a:defRPr sz="1000" b="0">
                <a:solidFill>
                  <a:srgbClr val="2C2825"/>
                </a:solidFill>
                <a:latin typeface="Calibri"/>
              </a:defRPr>
            </a:pPr>
            <a:r>
              <a:t>Local Law 97 — Carbon Emissions</a:t>
            </a:r>
          </a:p>
        </p:txBody>
      </p:sp>
      <p:sp>
        <p:nvSpPr>
          <p:cNvPr id="17" name="Rectangle 16"/>
          <p:cNvSpPr/>
          <p:nvPr/>
        </p:nvSpPr>
        <p:spPr>
          <a:xfrm>
            <a:off x="4389120" y="2651760"/>
            <a:ext cx="1371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27249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May 2026</a:t>
            </a:r>
          </a:p>
        </p:txBody>
      </p:sp>
      <p:sp>
        <p:nvSpPr>
          <p:cNvPr id="19" name="Rectangle 18"/>
          <p:cNvSpPr/>
          <p:nvPr/>
        </p:nvSpPr>
        <p:spPr>
          <a:xfrm>
            <a:off x="5760720" y="2651760"/>
            <a:ext cx="1371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0" y="27249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3 months</a:t>
            </a:r>
          </a:p>
        </p:txBody>
      </p:sp>
      <p:sp>
        <p:nvSpPr>
          <p:cNvPr id="21" name="Rectangle 20"/>
          <p:cNvSpPr/>
          <p:nvPr/>
        </p:nvSpPr>
        <p:spPr>
          <a:xfrm>
            <a:off x="7132320" y="2651760"/>
            <a:ext cx="109728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0" y="2724912"/>
            <a:ext cx="914400" cy="365760"/>
          </a:xfrm>
          <a:prstGeom prst="rect">
            <a:avLst/>
          </a:prstGeom>
          <a:noFill/>
        </p:spPr>
        <p:txBody>
          <a:bodyPr wrap="square"/>
          <a:lstStyle/>
          <a:p>
            <a:pPr algn="l">
              <a:spcBef>
                <a:spcPts val="0"/>
              </a:spcBef>
              <a:spcAft>
                <a:spcPts val="0"/>
              </a:spcAft>
              <a:defRPr sz="1000" b="1">
                <a:solidFill>
                  <a:srgbClr val="C0392B"/>
                </a:solidFill>
                <a:latin typeface="Calibri"/>
              </a:defRPr>
            </a:pPr>
            <a:r>
              <a:t>HIGH</a:t>
            </a:r>
          </a:p>
        </p:txBody>
      </p:sp>
      <p:sp>
        <p:nvSpPr>
          <p:cNvPr id="23" name="Rectangle 22"/>
          <p:cNvSpPr/>
          <p:nvPr/>
        </p:nvSpPr>
        <p:spPr>
          <a:xfrm>
            <a:off x="8229600" y="2651760"/>
            <a:ext cx="301752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2724912"/>
            <a:ext cx="2834640" cy="365760"/>
          </a:xfrm>
          <a:prstGeom prst="rect">
            <a:avLst/>
          </a:prstGeom>
          <a:noFill/>
        </p:spPr>
        <p:txBody>
          <a:bodyPr wrap="square"/>
          <a:lstStyle/>
          <a:p>
            <a:pPr algn="l">
              <a:spcBef>
                <a:spcPts val="0"/>
              </a:spcBef>
              <a:spcAft>
                <a:spcPts val="0"/>
              </a:spcAft>
              <a:defRPr sz="1000" b="0">
                <a:solidFill>
                  <a:srgbClr val="2C2825"/>
                </a:solidFill>
                <a:latin typeface="Calibri"/>
              </a:defRPr>
            </a:pPr>
            <a:r>
              <a:t>$58,000/yr penalty</a:t>
            </a:r>
          </a:p>
        </p:txBody>
      </p:sp>
      <p:sp>
        <p:nvSpPr>
          <p:cNvPr id="25" name="Rectangle 24"/>
          <p:cNvSpPr/>
          <p:nvPr/>
        </p:nvSpPr>
        <p:spPr>
          <a:xfrm>
            <a:off x="731520" y="3108960"/>
            <a:ext cx="365760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182112"/>
            <a:ext cx="3474720" cy="365760"/>
          </a:xfrm>
          <a:prstGeom prst="rect">
            <a:avLst/>
          </a:prstGeom>
          <a:noFill/>
        </p:spPr>
        <p:txBody>
          <a:bodyPr wrap="square"/>
          <a:lstStyle/>
          <a:p>
            <a:pPr algn="l">
              <a:spcBef>
                <a:spcPts val="0"/>
              </a:spcBef>
              <a:spcAft>
                <a:spcPts val="0"/>
              </a:spcAft>
              <a:defRPr sz="1000" b="0">
                <a:solidFill>
                  <a:srgbClr val="2C2825"/>
                </a:solidFill>
                <a:latin typeface="Calibri"/>
              </a:defRPr>
            </a:pPr>
            <a:r>
              <a:t>Elevator Annual Inspection — 2 cabs</a:t>
            </a:r>
          </a:p>
        </p:txBody>
      </p:sp>
      <p:sp>
        <p:nvSpPr>
          <p:cNvPr id="27" name="Rectangle 26"/>
          <p:cNvSpPr/>
          <p:nvPr/>
        </p:nvSpPr>
        <p:spPr>
          <a:xfrm>
            <a:off x="4389120" y="3108960"/>
            <a:ext cx="137160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31821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Apr 2026</a:t>
            </a:r>
          </a:p>
        </p:txBody>
      </p:sp>
      <p:sp>
        <p:nvSpPr>
          <p:cNvPr id="29" name="Rectangle 28"/>
          <p:cNvSpPr/>
          <p:nvPr/>
        </p:nvSpPr>
        <p:spPr>
          <a:xfrm>
            <a:off x="5760720" y="3108960"/>
            <a:ext cx="137160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52160" y="31821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2 months</a:t>
            </a:r>
          </a:p>
        </p:txBody>
      </p:sp>
      <p:sp>
        <p:nvSpPr>
          <p:cNvPr id="31" name="Rectangle 30"/>
          <p:cNvSpPr/>
          <p:nvPr/>
        </p:nvSpPr>
        <p:spPr>
          <a:xfrm>
            <a:off x="7132320" y="3108960"/>
            <a:ext cx="109728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0" y="3182112"/>
            <a:ext cx="914400" cy="365760"/>
          </a:xfrm>
          <a:prstGeom prst="rect">
            <a:avLst/>
          </a:prstGeom>
          <a:noFill/>
        </p:spPr>
        <p:txBody>
          <a:bodyPr wrap="square"/>
          <a:lstStyle/>
          <a:p>
            <a:pPr algn="l">
              <a:spcBef>
                <a:spcPts val="0"/>
              </a:spcBef>
              <a:spcAft>
                <a:spcPts val="0"/>
              </a:spcAft>
              <a:defRPr sz="1000" b="1">
                <a:solidFill>
                  <a:srgbClr val="C0392B"/>
                </a:solidFill>
                <a:latin typeface="Calibri"/>
              </a:defRPr>
            </a:pPr>
            <a:r>
              <a:t>HIGH</a:t>
            </a:r>
          </a:p>
        </p:txBody>
      </p:sp>
      <p:sp>
        <p:nvSpPr>
          <p:cNvPr id="33" name="Rectangle 32"/>
          <p:cNvSpPr/>
          <p:nvPr/>
        </p:nvSpPr>
        <p:spPr>
          <a:xfrm>
            <a:off x="8229600" y="3108960"/>
            <a:ext cx="301752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3182112"/>
            <a:ext cx="2834640" cy="365760"/>
          </a:xfrm>
          <a:prstGeom prst="rect">
            <a:avLst/>
          </a:prstGeom>
          <a:noFill/>
        </p:spPr>
        <p:txBody>
          <a:bodyPr wrap="square"/>
          <a:lstStyle/>
          <a:p>
            <a:pPr algn="l">
              <a:spcBef>
                <a:spcPts val="0"/>
              </a:spcBef>
              <a:spcAft>
                <a:spcPts val="0"/>
              </a:spcAft>
              <a:defRPr sz="1000" b="0">
                <a:solidFill>
                  <a:srgbClr val="2C2825"/>
                </a:solidFill>
                <a:latin typeface="Calibri"/>
              </a:defRPr>
            </a:pPr>
            <a:r>
              <a:t>Cab shutdown</a:t>
            </a:r>
          </a:p>
        </p:txBody>
      </p:sp>
      <p:sp>
        <p:nvSpPr>
          <p:cNvPr id="35" name="Rectangle 34"/>
          <p:cNvSpPr/>
          <p:nvPr/>
        </p:nvSpPr>
        <p:spPr>
          <a:xfrm>
            <a:off x="731520" y="3566160"/>
            <a:ext cx="3657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3639312"/>
            <a:ext cx="3474720" cy="365760"/>
          </a:xfrm>
          <a:prstGeom prst="rect">
            <a:avLst/>
          </a:prstGeom>
          <a:noFill/>
        </p:spPr>
        <p:txBody>
          <a:bodyPr wrap="square"/>
          <a:lstStyle/>
          <a:p>
            <a:pPr algn="l">
              <a:spcBef>
                <a:spcPts val="0"/>
              </a:spcBef>
              <a:spcAft>
                <a:spcPts val="0"/>
              </a:spcAft>
              <a:defRPr sz="1000" b="0">
                <a:solidFill>
                  <a:srgbClr val="2C2825"/>
                </a:solidFill>
                <a:latin typeface="Calibri"/>
              </a:defRPr>
            </a:pPr>
            <a:r>
              <a:t>Local Law 11 — FISP Facade Inspection</a:t>
            </a:r>
          </a:p>
        </p:txBody>
      </p:sp>
      <p:sp>
        <p:nvSpPr>
          <p:cNvPr id="37" name="Rectangle 36"/>
          <p:cNvSpPr/>
          <p:nvPr/>
        </p:nvSpPr>
        <p:spPr>
          <a:xfrm>
            <a:off x="4389120" y="3566160"/>
            <a:ext cx="1371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80560" y="36393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Dec 2026</a:t>
            </a:r>
          </a:p>
        </p:txBody>
      </p:sp>
      <p:sp>
        <p:nvSpPr>
          <p:cNvPr id="39" name="Rectangle 38"/>
          <p:cNvSpPr/>
          <p:nvPr/>
        </p:nvSpPr>
        <p:spPr>
          <a:xfrm>
            <a:off x="5760720" y="3566160"/>
            <a:ext cx="1371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52160" y="36393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10 months</a:t>
            </a:r>
          </a:p>
        </p:txBody>
      </p:sp>
      <p:sp>
        <p:nvSpPr>
          <p:cNvPr id="41" name="Rectangle 40"/>
          <p:cNvSpPr/>
          <p:nvPr/>
        </p:nvSpPr>
        <p:spPr>
          <a:xfrm>
            <a:off x="7132320" y="3566160"/>
            <a:ext cx="109728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60" y="3639312"/>
            <a:ext cx="914400" cy="365760"/>
          </a:xfrm>
          <a:prstGeom prst="rect">
            <a:avLst/>
          </a:prstGeom>
          <a:noFill/>
        </p:spPr>
        <p:txBody>
          <a:bodyPr wrap="square"/>
          <a:lstStyle/>
          <a:p>
            <a:pPr algn="l">
              <a:spcBef>
                <a:spcPts val="0"/>
              </a:spcBef>
              <a:spcAft>
                <a:spcPts val="0"/>
              </a:spcAft>
              <a:defRPr sz="1000" b="1">
                <a:solidFill>
                  <a:srgbClr val="C0392B"/>
                </a:solidFill>
                <a:latin typeface="Calibri"/>
              </a:defRPr>
            </a:pPr>
            <a:r>
              <a:t>HIGH</a:t>
            </a:r>
          </a:p>
        </p:txBody>
      </p:sp>
      <p:sp>
        <p:nvSpPr>
          <p:cNvPr id="43" name="Rectangle 42"/>
          <p:cNvSpPr/>
          <p:nvPr/>
        </p:nvSpPr>
        <p:spPr>
          <a:xfrm>
            <a:off x="8229600" y="3566160"/>
            <a:ext cx="301752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21040" y="3639312"/>
            <a:ext cx="2834640" cy="365760"/>
          </a:xfrm>
          <a:prstGeom prst="rect">
            <a:avLst/>
          </a:prstGeom>
          <a:noFill/>
        </p:spPr>
        <p:txBody>
          <a:bodyPr wrap="square"/>
          <a:lstStyle/>
          <a:p>
            <a:pPr algn="l">
              <a:spcBef>
                <a:spcPts val="0"/>
              </a:spcBef>
              <a:spcAft>
                <a:spcPts val="0"/>
              </a:spcAft>
              <a:defRPr sz="1000" b="0">
                <a:solidFill>
                  <a:srgbClr val="2C2825"/>
                </a:solidFill>
                <a:latin typeface="Calibri"/>
              </a:defRPr>
            </a:pPr>
            <a:r>
              <a:t>$1,000/mo fines</a:t>
            </a:r>
          </a:p>
        </p:txBody>
      </p:sp>
      <p:sp>
        <p:nvSpPr>
          <p:cNvPr id="45" name="Rectangle 44"/>
          <p:cNvSpPr/>
          <p:nvPr/>
        </p:nvSpPr>
        <p:spPr>
          <a:xfrm>
            <a:off x="731520" y="4023360"/>
            <a:ext cx="365760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4096512"/>
            <a:ext cx="3474720" cy="365760"/>
          </a:xfrm>
          <a:prstGeom prst="rect">
            <a:avLst/>
          </a:prstGeom>
          <a:noFill/>
        </p:spPr>
        <p:txBody>
          <a:bodyPr wrap="square"/>
          <a:lstStyle/>
          <a:p>
            <a:pPr algn="l">
              <a:spcBef>
                <a:spcPts val="0"/>
              </a:spcBef>
              <a:spcAft>
                <a:spcPts val="0"/>
              </a:spcAft>
              <a:defRPr sz="1000" b="0">
                <a:solidFill>
                  <a:srgbClr val="2C2825"/>
                </a:solidFill>
                <a:latin typeface="Calibri"/>
              </a:defRPr>
            </a:pPr>
            <a:r>
              <a:t>Local Law 87 — Energy Audit</a:t>
            </a:r>
          </a:p>
        </p:txBody>
      </p:sp>
      <p:sp>
        <p:nvSpPr>
          <p:cNvPr id="47" name="Rectangle 46"/>
          <p:cNvSpPr/>
          <p:nvPr/>
        </p:nvSpPr>
        <p:spPr>
          <a:xfrm>
            <a:off x="4389120" y="4023360"/>
            <a:ext cx="137160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480560" y="40965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Dec 2026</a:t>
            </a:r>
          </a:p>
        </p:txBody>
      </p:sp>
      <p:sp>
        <p:nvSpPr>
          <p:cNvPr id="49" name="Rectangle 48"/>
          <p:cNvSpPr/>
          <p:nvPr/>
        </p:nvSpPr>
        <p:spPr>
          <a:xfrm>
            <a:off x="5760720" y="4023360"/>
            <a:ext cx="137160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52160" y="40965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10 months</a:t>
            </a:r>
          </a:p>
        </p:txBody>
      </p:sp>
      <p:sp>
        <p:nvSpPr>
          <p:cNvPr id="51" name="Rectangle 50"/>
          <p:cNvSpPr/>
          <p:nvPr/>
        </p:nvSpPr>
        <p:spPr>
          <a:xfrm>
            <a:off x="7132320" y="4023360"/>
            <a:ext cx="109728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0" y="4096512"/>
            <a:ext cx="914400" cy="365760"/>
          </a:xfrm>
          <a:prstGeom prst="rect">
            <a:avLst/>
          </a:prstGeom>
          <a:noFill/>
        </p:spPr>
        <p:txBody>
          <a:bodyPr wrap="square"/>
          <a:lstStyle/>
          <a:p>
            <a:pPr algn="l">
              <a:spcBef>
                <a:spcPts val="0"/>
              </a:spcBef>
              <a:spcAft>
                <a:spcPts val="0"/>
              </a:spcAft>
              <a:defRPr sz="1000" b="1">
                <a:solidFill>
                  <a:srgbClr val="C0392B"/>
                </a:solidFill>
                <a:latin typeface="Calibri"/>
              </a:defRPr>
            </a:pPr>
            <a:r>
              <a:t>HIGH</a:t>
            </a:r>
          </a:p>
        </p:txBody>
      </p:sp>
      <p:sp>
        <p:nvSpPr>
          <p:cNvPr id="53" name="Rectangle 52"/>
          <p:cNvSpPr/>
          <p:nvPr/>
        </p:nvSpPr>
        <p:spPr>
          <a:xfrm>
            <a:off x="8229600" y="4023360"/>
            <a:ext cx="3017520" cy="45720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21040" y="4096512"/>
            <a:ext cx="2834640" cy="365760"/>
          </a:xfrm>
          <a:prstGeom prst="rect">
            <a:avLst/>
          </a:prstGeom>
          <a:noFill/>
        </p:spPr>
        <p:txBody>
          <a:bodyPr wrap="square"/>
          <a:lstStyle/>
          <a:p>
            <a:pPr algn="l">
              <a:spcBef>
                <a:spcPts val="0"/>
              </a:spcBef>
              <a:spcAft>
                <a:spcPts val="0"/>
              </a:spcAft>
              <a:defRPr sz="1000" b="0">
                <a:solidFill>
                  <a:srgbClr val="2C2825"/>
                </a:solidFill>
                <a:latin typeface="Calibri"/>
              </a:defRPr>
            </a:pPr>
            <a:r>
              <a:t>$5,000/yr fines</a:t>
            </a:r>
          </a:p>
        </p:txBody>
      </p:sp>
      <p:sp>
        <p:nvSpPr>
          <p:cNvPr id="55" name="Rectangle 54"/>
          <p:cNvSpPr/>
          <p:nvPr/>
        </p:nvSpPr>
        <p:spPr>
          <a:xfrm>
            <a:off x="731520" y="4480560"/>
            <a:ext cx="3657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2960" y="4553712"/>
            <a:ext cx="3474720" cy="365760"/>
          </a:xfrm>
          <a:prstGeom prst="rect">
            <a:avLst/>
          </a:prstGeom>
          <a:noFill/>
        </p:spPr>
        <p:txBody>
          <a:bodyPr wrap="square"/>
          <a:lstStyle/>
          <a:p>
            <a:pPr algn="l">
              <a:spcBef>
                <a:spcPts val="0"/>
              </a:spcBef>
              <a:spcAft>
                <a:spcPts val="0"/>
              </a:spcAft>
              <a:defRPr sz="1000" b="0">
                <a:solidFill>
                  <a:srgbClr val="2C2825"/>
                </a:solidFill>
                <a:latin typeface="Calibri"/>
              </a:defRPr>
            </a:pPr>
            <a:r>
              <a:t>Local Law 152 — Gas Piping</a:t>
            </a:r>
          </a:p>
        </p:txBody>
      </p:sp>
      <p:sp>
        <p:nvSpPr>
          <p:cNvPr id="57" name="Rectangle 56"/>
          <p:cNvSpPr/>
          <p:nvPr/>
        </p:nvSpPr>
        <p:spPr>
          <a:xfrm>
            <a:off x="4389120" y="4480560"/>
            <a:ext cx="1371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80560" y="45537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Dec 2026</a:t>
            </a:r>
          </a:p>
        </p:txBody>
      </p:sp>
      <p:sp>
        <p:nvSpPr>
          <p:cNvPr id="59" name="Rectangle 58"/>
          <p:cNvSpPr/>
          <p:nvPr/>
        </p:nvSpPr>
        <p:spPr>
          <a:xfrm>
            <a:off x="5760720" y="4480560"/>
            <a:ext cx="137160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852160" y="4553712"/>
            <a:ext cx="1188720" cy="365760"/>
          </a:xfrm>
          <a:prstGeom prst="rect">
            <a:avLst/>
          </a:prstGeom>
          <a:noFill/>
        </p:spPr>
        <p:txBody>
          <a:bodyPr wrap="square"/>
          <a:lstStyle/>
          <a:p>
            <a:pPr algn="l">
              <a:spcBef>
                <a:spcPts val="0"/>
              </a:spcBef>
              <a:spcAft>
                <a:spcPts val="0"/>
              </a:spcAft>
              <a:defRPr sz="1000" b="0">
                <a:solidFill>
                  <a:srgbClr val="2C2825"/>
                </a:solidFill>
                <a:latin typeface="Calibri"/>
              </a:defRPr>
            </a:pPr>
            <a:r>
              <a:t>10 months</a:t>
            </a:r>
          </a:p>
        </p:txBody>
      </p:sp>
      <p:sp>
        <p:nvSpPr>
          <p:cNvPr id="61" name="Rectangle 60"/>
          <p:cNvSpPr/>
          <p:nvPr/>
        </p:nvSpPr>
        <p:spPr>
          <a:xfrm>
            <a:off x="7132320" y="4480560"/>
            <a:ext cx="109728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23760" y="4553712"/>
            <a:ext cx="914400" cy="365760"/>
          </a:xfrm>
          <a:prstGeom prst="rect">
            <a:avLst/>
          </a:prstGeom>
          <a:noFill/>
        </p:spPr>
        <p:txBody>
          <a:bodyPr wrap="square"/>
          <a:lstStyle/>
          <a:p>
            <a:pPr algn="l">
              <a:spcBef>
                <a:spcPts val="0"/>
              </a:spcBef>
              <a:spcAft>
                <a:spcPts val="0"/>
              </a:spcAft>
              <a:defRPr sz="1000" b="1">
                <a:solidFill>
                  <a:srgbClr val="C4893A"/>
                </a:solidFill>
                <a:latin typeface="Calibri"/>
              </a:defRPr>
            </a:pPr>
            <a:r>
              <a:t>MEDIUM</a:t>
            </a:r>
          </a:p>
        </p:txBody>
      </p:sp>
      <p:sp>
        <p:nvSpPr>
          <p:cNvPr id="63" name="Rectangle 62"/>
          <p:cNvSpPr/>
          <p:nvPr/>
        </p:nvSpPr>
        <p:spPr>
          <a:xfrm>
            <a:off x="8229600" y="4480560"/>
            <a:ext cx="3017520" cy="4572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21040" y="4553712"/>
            <a:ext cx="2834640" cy="365760"/>
          </a:xfrm>
          <a:prstGeom prst="rect">
            <a:avLst/>
          </a:prstGeom>
          <a:noFill/>
        </p:spPr>
        <p:txBody>
          <a:bodyPr wrap="square"/>
          <a:lstStyle/>
          <a:p>
            <a:pPr algn="l">
              <a:spcBef>
                <a:spcPts val="0"/>
              </a:spcBef>
              <a:spcAft>
                <a:spcPts val="0"/>
              </a:spcAft>
              <a:defRPr sz="1000" b="0">
                <a:solidFill>
                  <a:srgbClr val="2C2825"/>
                </a:solidFill>
                <a:latin typeface="Calibri"/>
              </a:defRPr>
            </a:pPr>
            <a:r>
              <a:t>DOB violations</a:t>
            </a:r>
          </a:p>
        </p:txBody>
      </p:sp>
      <p:sp>
        <p:nvSpPr>
          <p:cNvPr id="65" name="Rectangle 64"/>
          <p:cNvSpPr/>
          <p:nvPr/>
        </p:nvSpPr>
        <p:spPr>
          <a:xfrm>
            <a:off x="731520" y="4846320"/>
            <a:ext cx="10058400" cy="1371600"/>
          </a:xfrm>
          <a:prstGeom prst="rect">
            <a:avLst/>
          </a:prstGeom>
          <a:solidFill>
            <a:srgbClr val="FFFFFF"/>
          </a:solidFill>
          <a:ln w="12700">
            <a:solidFill>
              <a:srgbClr val="C489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31520" y="4846320"/>
            <a:ext cx="63500" cy="13716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05840" y="4983480"/>
            <a:ext cx="9144000" cy="320040"/>
          </a:xfrm>
          <a:prstGeom prst="rect">
            <a:avLst/>
          </a:prstGeom>
          <a:noFill/>
        </p:spPr>
        <p:txBody>
          <a:bodyPr wrap="square"/>
          <a:lstStyle/>
          <a:p>
            <a:pPr algn="l">
              <a:spcBef>
                <a:spcPts val="0"/>
              </a:spcBef>
              <a:spcAft>
                <a:spcPts val="0"/>
              </a:spcAft>
              <a:defRPr sz="1400" b="1">
                <a:solidFill>
                  <a:srgbClr val="2C2825"/>
                </a:solidFill>
                <a:latin typeface="Georgia"/>
              </a:defRPr>
            </a:pPr>
            <a:r>
              <a:t>What this means for your building:</a:t>
            </a:r>
          </a:p>
        </p:txBody>
      </p:sp>
      <p:sp>
        <p:nvSpPr>
          <p:cNvPr id="68" name="TextBox 67"/>
          <p:cNvSpPr txBox="1"/>
          <p:nvPr/>
        </p:nvSpPr>
        <p:spPr>
          <a:xfrm>
            <a:off x="1005840" y="5349240"/>
            <a:ext cx="9601200" cy="777240"/>
          </a:xfrm>
          <a:prstGeom prst="rect">
            <a:avLst/>
          </a:prstGeom>
          <a:noFill/>
        </p:spPr>
        <p:txBody>
          <a:bodyPr wrap="square"/>
          <a:lstStyle/>
          <a:p>
            <a:pPr algn="l">
              <a:spcBef>
                <a:spcPts val="0"/>
              </a:spcBef>
              <a:spcAft>
                <a:spcPts val="0"/>
              </a:spcAft>
              <a:defRPr sz="1100" b="0">
                <a:solidFill>
                  <a:srgbClr val="6B655E"/>
                </a:solidFill>
                <a:latin typeface="Calibri"/>
              </a:defRPr>
            </a:pPr>
            <a:r>
              <a:t>Without action, 130 East 18th Street faces $58,000+ in annual penalties from Local Law 97 alone, plus potential elevator shutdowns and DOB violations. BoardIQ tracks all of this automatically and alerts you with enough lead time to plan, budget, and hire the right vendors.</a:t>
            </a:r>
          </a:p>
        </p:txBody>
      </p:sp>
      <p:sp>
        <p:nvSpPr>
          <p:cNvPr id="69" name="TextBox 68"/>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FEATURE DEEP DIVE</a:t>
            </a:r>
          </a:p>
        </p:txBody>
      </p:sp>
      <p:sp>
        <p:nvSpPr>
          <p:cNvPr id="3" name="TextBox 2"/>
          <p:cNvSpPr txBox="1"/>
          <p:nvPr/>
        </p:nvSpPr>
        <p:spPr>
          <a:xfrm>
            <a:off x="731520" y="822960"/>
            <a:ext cx="9144000" cy="640080"/>
          </a:xfrm>
          <a:prstGeom prst="rect">
            <a:avLst/>
          </a:prstGeom>
          <a:noFill/>
        </p:spPr>
        <p:txBody>
          <a:bodyPr wrap="square"/>
          <a:lstStyle/>
          <a:p>
            <a:pPr algn="l">
              <a:spcBef>
                <a:spcPts val="0"/>
              </a:spcBef>
              <a:spcAft>
                <a:spcPts val="0"/>
              </a:spcAft>
              <a:defRPr sz="3600" b="1">
                <a:solidFill>
                  <a:srgbClr val="2C2825"/>
                </a:solidFill>
                <a:latin typeface="Georgia"/>
              </a:defRPr>
            </a:pPr>
            <a:r>
              <a:t>Cost Benchmarking</a:t>
            </a:r>
          </a:p>
        </p:txBody>
      </p:sp>
      <p:sp>
        <p:nvSpPr>
          <p:cNvPr id="4" name="TextBox 3"/>
          <p:cNvSpPr txBox="1"/>
          <p:nvPr/>
        </p:nvSpPr>
        <p:spPr>
          <a:xfrm>
            <a:off x="731520" y="1554480"/>
            <a:ext cx="9144000" cy="457200"/>
          </a:xfrm>
          <a:prstGeom prst="rect">
            <a:avLst/>
          </a:prstGeom>
          <a:noFill/>
        </p:spPr>
        <p:txBody>
          <a:bodyPr wrap="square"/>
          <a:lstStyle/>
          <a:p>
            <a:pPr algn="l">
              <a:spcBef>
                <a:spcPts val="0"/>
              </a:spcBef>
              <a:spcAft>
                <a:spcPts val="0"/>
              </a:spcAft>
              <a:defRPr sz="1400" b="0">
                <a:solidFill>
                  <a:srgbClr val="6B655E"/>
                </a:solidFill>
                <a:latin typeface="Calibri"/>
              </a:defRPr>
            </a:pPr>
            <a:r>
              <a:t>See exactly how your building's vendor costs compare to similar buildings in your area.</a:t>
            </a:r>
          </a:p>
        </p:txBody>
      </p:sp>
      <p:graphicFrame>
        <p:nvGraphicFramePr>
          <p:cNvPr id="5" name="Chart 4"/>
          <p:cNvGraphicFramePr>
            <a:graphicFrameLocks noGrp="1"/>
          </p:cNvGraphicFramePr>
          <p:nvPr/>
        </p:nvGraphicFramePr>
        <p:xfrm>
          <a:off x="731520" y="2194560"/>
          <a:ext cx="6400800" cy="3840480"/>
        </p:xfrm>
        <a:graphic>
          <a:graphicData uri="http://schemas.openxmlformats.org/drawingml/2006/chart">
            <c:chart xmlns:c="http://schemas.openxmlformats.org/drawingml/2006/chart" r:id="rId2"/>
          </a:graphicData>
        </a:graphic>
      </p:graphicFrame>
      <p:sp>
        <p:nvSpPr>
          <p:cNvPr id="6" name="TextBox 5"/>
          <p:cNvSpPr txBox="1"/>
          <p:nvPr/>
        </p:nvSpPr>
        <p:spPr>
          <a:xfrm>
            <a:off x="7589520" y="2194560"/>
            <a:ext cx="4114800" cy="365760"/>
          </a:xfrm>
          <a:prstGeom prst="rect">
            <a:avLst/>
          </a:prstGeom>
          <a:noFill/>
        </p:spPr>
        <p:txBody>
          <a:bodyPr wrap="square"/>
          <a:lstStyle/>
          <a:p>
            <a:pPr algn="l">
              <a:spcBef>
                <a:spcPts val="0"/>
              </a:spcBef>
              <a:spcAft>
                <a:spcPts val="0"/>
              </a:spcAft>
              <a:defRPr sz="1600" b="1">
                <a:solidFill>
                  <a:srgbClr val="2C2825"/>
                </a:solidFill>
                <a:latin typeface="Georgia"/>
              </a:defRPr>
            </a:pPr>
            <a:r>
              <a:t>Savings Opportunities</a:t>
            </a:r>
          </a:p>
        </p:txBody>
      </p:sp>
      <p:sp>
        <p:nvSpPr>
          <p:cNvPr id="7" name="Rectangle 6"/>
          <p:cNvSpPr/>
          <p:nvPr/>
        </p:nvSpPr>
        <p:spPr>
          <a:xfrm>
            <a:off x="7589520" y="2743200"/>
            <a:ext cx="3931920" cy="100584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0" y="2743200"/>
            <a:ext cx="63500"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2834640"/>
            <a:ext cx="2743200" cy="274320"/>
          </a:xfrm>
          <a:prstGeom prst="rect">
            <a:avLst/>
          </a:prstGeom>
          <a:noFill/>
        </p:spPr>
        <p:txBody>
          <a:bodyPr wrap="square"/>
          <a:lstStyle/>
          <a:p>
            <a:pPr algn="l">
              <a:spcBef>
                <a:spcPts val="0"/>
              </a:spcBef>
              <a:spcAft>
                <a:spcPts val="0"/>
              </a:spcAft>
              <a:defRPr sz="1300" b="1">
                <a:solidFill>
                  <a:srgbClr val="2C2825"/>
                </a:solidFill>
                <a:latin typeface="Calibri"/>
              </a:defRPr>
            </a:pPr>
            <a:r>
              <a:t>Plumbing</a:t>
            </a:r>
          </a:p>
        </p:txBody>
      </p:sp>
      <p:sp>
        <p:nvSpPr>
          <p:cNvPr id="10" name="TextBox 9"/>
          <p:cNvSpPr txBox="1"/>
          <p:nvPr/>
        </p:nvSpPr>
        <p:spPr>
          <a:xfrm>
            <a:off x="7818120" y="3108960"/>
            <a:ext cx="3200400" cy="274320"/>
          </a:xfrm>
          <a:prstGeom prst="rect">
            <a:avLst/>
          </a:prstGeom>
          <a:noFill/>
        </p:spPr>
        <p:txBody>
          <a:bodyPr wrap="square"/>
          <a:lstStyle/>
          <a:p>
            <a:pPr algn="l">
              <a:spcBef>
                <a:spcPts val="0"/>
              </a:spcBef>
              <a:spcAft>
                <a:spcPts val="0"/>
              </a:spcAft>
              <a:defRPr sz="1000" b="0">
                <a:solidFill>
                  <a:srgbClr val="6B655E"/>
                </a:solidFill>
                <a:latin typeface="Calibri"/>
              </a:defRPr>
            </a:pPr>
            <a:r>
              <a:t>You pay $366/unit  |  Market: $194/unit</a:t>
            </a:r>
          </a:p>
        </p:txBody>
      </p:sp>
      <p:sp>
        <p:nvSpPr>
          <p:cNvPr id="11" name="TextBox 10"/>
          <p:cNvSpPr txBox="1"/>
          <p:nvPr/>
        </p:nvSpPr>
        <p:spPr>
          <a:xfrm>
            <a:off x="10515600" y="3017520"/>
            <a:ext cx="822960" cy="365760"/>
          </a:xfrm>
          <a:prstGeom prst="rect">
            <a:avLst/>
          </a:prstGeom>
          <a:noFill/>
        </p:spPr>
        <p:txBody>
          <a:bodyPr wrap="square"/>
          <a:lstStyle/>
          <a:p>
            <a:pPr algn="r">
              <a:spcBef>
                <a:spcPts val="0"/>
              </a:spcBef>
              <a:spcAft>
                <a:spcPts val="0"/>
              </a:spcAft>
              <a:defRPr sz="1400" b="1">
                <a:solidFill>
                  <a:srgbClr val="C0392B"/>
                </a:solidFill>
                <a:latin typeface="Calibri"/>
              </a:defRPr>
            </a:pPr>
            <a:r>
              <a:t>89% above</a:t>
            </a:r>
          </a:p>
        </p:txBody>
      </p:sp>
      <p:sp>
        <p:nvSpPr>
          <p:cNvPr id="12" name="Rectangle 11"/>
          <p:cNvSpPr/>
          <p:nvPr/>
        </p:nvSpPr>
        <p:spPr>
          <a:xfrm>
            <a:off x="7589520" y="3977640"/>
            <a:ext cx="3931920" cy="100584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3977640"/>
            <a:ext cx="63500" cy="100584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4069080"/>
            <a:ext cx="2743200" cy="274320"/>
          </a:xfrm>
          <a:prstGeom prst="rect">
            <a:avLst/>
          </a:prstGeom>
          <a:noFill/>
        </p:spPr>
        <p:txBody>
          <a:bodyPr wrap="square"/>
          <a:lstStyle/>
          <a:p>
            <a:pPr algn="l">
              <a:spcBef>
                <a:spcPts val="0"/>
              </a:spcBef>
              <a:spcAft>
                <a:spcPts val="0"/>
              </a:spcAft>
              <a:defRPr sz="1300" b="1">
                <a:solidFill>
                  <a:srgbClr val="2C2825"/>
                </a:solidFill>
                <a:latin typeface="Calibri"/>
              </a:defRPr>
            </a:pPr>
            <a:r>
              <a:t>HVAC</a:t>
            </a:r>
          </a:p>
        </p:txBody>
      </p:sp>
      <p:sp>
        <p:nvSpPr>
          <p:cNvPr id="15" name="TextBox 14"/>
          <p:cNvSpPr txBox="1"/>
          <p:nvPr/>
        </p:nvSpPr>
        <p:spPr>
          <a:xfrm>
            <a:off x="7818120" y="4343400"/>
            <a:ext cx="3200400" cy="274320"/>
          </a:xfrm>
          <a:prstGeom prst="rect">
            <a:avLst/>
          </a:prstGeom>
          <a:noFill/>
        </p:spPr>
        <p:txBody>
          <a:bodyPr wrap="square"/>
          <a:lstStyle/>
          <a:p>
            <a:pPr algn="l">
              <a:spcBef>
                <a:spcPts val="0"/>
              </a:spcBef>
              <a:spcAft>
                <a:spcPts val="0"/>
              </a:spcAft>
              <a:defRPr sz="1000" b="0">
                <a:solidFill>
                  <a:srgbClr val="6B655E"/>
                </a:solidFill>
                <a:latin typeface="Calibri"/>
              </a:defRPr>
            </a:pPr>
            <a:r>
              <a:t>You pay $154/unit  |  Market: $128/unit</a:t>
            </a:r>
          </a:p>
        </p:txBody>
      </p:sp>
      <p:sp>
        <p:nvSpPr>
          <p:cNvPr id="16" name="TextBox 15"/>
          <p:cNvSpPr txBox="1"/>
          <p:nvPr/>
        </p:nvSpPr>
        <p:spPr>
          <a:xfrm>
            <a:off x="10515600" y="4251960"/>
            <a:ext cx="822960" cy="365760"/>
          </a:xfrm>
          <a:prstGeom prst="rect">
            <a:avLst/>
          </a:prstGeom>
          <a:noFill/>
        </p:spPr>
        <p:txBody>
          <a:bodyPr wrap="square"/>
          <a:lstStyle/>
          <a:p>
            <a:pPr algn="r">
              <a:spcBef>
                <a:spcPts val="0"/>
              </a:spcBef>
              <a:spcAft>
                <a:spcPts val="0"/>
              </a:spcAft>
              <a:defRPr sz="1400" b="1">
                <a:solidFill>
                  <a:srgbClr val="C4893A"/>
                </a:solidFill>
                <a:latin typeface="Calibri"/>
              </a:defRPr>
            </a:pPr>
            <a:r>
              <a:t>20% above</a:t>
            </a:r>
          </a:p>
        </p:txBody>
      </p:sp>
      <p:sp>
        <p:nvSpPr>
          <p:cNvPr id="17" name="Rectangle 16"/>
          <p:cNvSpPr/>
          <p:nvPr/>
        </p:nvSpPr>
        <p:spPr>
          <a:xfrm>
            <a:off x="7589520" y="5212080"/>
            <a:ext cx="3931920" cy="100584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20" y="5212080"/>
            <a:ext cx="63500" cy="100584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18120" y="5303520"/>
            <a:ext cx="2743200" cy="274320"/>
          </a:xfrm>
          <a:prstGeom prst="rect">
            <a:avLst/>
          </a:prstGeom>
          <a:noFill/>
        </p:spPr>
        <p:txBody>
          <a:bodyPr wrap="square"/>
          <a:lstStyle/>
          <a:p>
            <a:pPr algn="l">
              <a:spcBef>
                <a:spcPts val="0"/>
              </a:spcBef>
              <a:spcAft>
                <a:spcPts val="0"/>
              </a:spcAft>
              <a:defRPr sz="1300" b="1">
                <a:solidFill>
                  <a:srgbClr val="2C2825"/>
                </a:solidFill>
                <a:latin typeface="Calibri"/>
              </a:defRPr>
            </a:pPr>
            <a:r>
              <a:t>Pest Control</a:t>
            </a:r>
          </a:p>
        </p:txBody>
      </p:sp>
      <p:sp>
        <p:nvSpPr>
          <p:cNvPr id="20" name="TextBox 19"/>
          <p:cNvSpPr txBox="1"/>
          <p:nvPr/>
        </p:nvSpPr>
        <p:spPr>
          <a:xfrm>
            <a:off x="7818120" y="5577840"/>
            <a:ext cx="3200400" cy="274320"/>
          </a:xfrm>
          <a:prstGeom prst="rect">
            <a:avLst/>
          </a:prstGeom>
          <a:noFill/>
        </p:spPr>
        <p:txBody>
          <a:bodyPr wrap="square"/>
          <a:lstStyle/>
          <a:p>
            <a:pPr algn="l">
              <a:spcBef>
                <a:spcPts val="0"/>
              </a:spcBef>
              <a:spcAft>
                <a:spcPts val="0"/>
              </a:spcAft>
              <a:defRPr sz="1000" b="0">
                <a:solidFill>
                  <a:srgbClr val="6B655E"/>
                </a:solidFill>
                <a:latin typeface="Calibri"/>
              </a:defRPr>
            </a:pPr>
            <a:r>
              <a:t>You pay $104/unit  |  Market: $85/unit</a:t>
            </a:r>
          </a:p>
        </p:txBody>
      </p:sp>
      <p:sp>
        <p:nvSpPr>
          <p:cNvPr id="21" name="TextBox 20"/>
          <p:cNvSpPr txBox="1"/>
          <p:nvPr/>
        </p:nvSpPr>
        <p:spPr>
          <a:xfrm>
            <a:off x="10515600" y="5486400"/>
            <a:ext cx="822960" cy="365760"/>
          </a:xfrm>
          <a:prstGeom prst="rect">
            <a:avLst/>
          </a:prstGeom>
          <a:noFill/>
        </p:spPr>
        <p:txBody>
          <a:bodyPr wrap="square"/>
          <a:lstStyle/>
          <a:p>
            <a:pPr algn="r">
              <a:spcBef>
                <a:spcPts val="0"/>
              </a:spcBef>
              <a:spcAft>
                <a:spcPts val="0"/>
              </a:spcAft>
              <a:defRPr sz="1400" b="1">
                <a:solidFill>
                  <a:srgbClr val="C4893A"/>
                </a:solidFill>
                <a:latin typeface="Calibri"/>
              </a:defRPr>
            </a:pPr>
            <a:r>
              <a:t>22% above</a:t>
            </a:r>
          </a:p>
        </p:txBody>
      </p:sp>
      <p:sp>
        <p:nvSpPr>
          <p:cNvPr id="22" name="TextBox 21"/>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FEATURE DEEP DIVE</a:t>
            </a:r>
          </a:p>
        </p:txBody>
      </p:sp>
      <p:sp>
        <p:nvSpPr>
          <p:cNvPr id="3" name="TextBox 2"/>
          <p:cNvSpPr txBox="1"/>
          <p:nvPr/>
        </p:nvSpPr>
        <p:spPr>
          <a:xfrm>
            <a:off x="731520" y="822960"/>
            <a:ext cx="10058400" cy="640080"/>
          </a:xfrm>
          <a:prstGeom prst="rect">
            <a:avLst/>
          </a:prstGeom>
          <a:noFill/>
        </p:spPr>
        <p:txBody>
          <a:bodyPr wrap="square"/>
          <a:lstStyle/>
          <a:p>
            <a:pPr algn="l">
              <a:spcBef>
                <a:spcPts val="0"/>
              </a:spcBef>
              <a:spcAft>
                <a:spcPts val="0"/>
              </a:spcAft>
              <a:defRPr sz="3600" b="1">
                <a:solidFill>
                  <a:srgbClr val="2C2825"/>
                </a:solidFill>
                <a:latin typeface="Georgia"/>
              </a:defRPr>
            </a:pPr>
            <a:r>
              <a:t>BidBoard: How You Get Better Prices</a:t>
            </a:r>
          </a:p>
        </p:txBody>
      </p:sp>
      <p:sp>
        <p:nvSpPr>
          <p:cNvPr id="4" name="Rectangle 3"/>
          <p:cNvSpPr/>
          <p:nvPr/>
        </p:nvSpPr>
        <p:spPr>
          <a:xfrm>
            <a:off x="548640" y="2103120"/>
            <a:ext cx="2560320" cy="25603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463040" y="2331720"/>
            <a:ext cx="548640" cy="548640"/>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Georgia"/>
              </a:defRPr>
            </a:pPr>
            <a:r>
              <a:t>1</a:t>
            </a:r>
          </a:p>
        </p:txBody>
      </p:sp>
      <p:sp>
        <p:nvSpPr>
          <p:cNvPr id="6" name="TextBox 5"/>
          <p:cNvSpPr txBox="1"/>
          <p:nvPr/>
        </p:nvSpPr>
        <p:spPr>
          <a:xfrm>
            <a:off x="685800" y="3063240"/>
            <a:ext cx="2286000" cy="320040"/>
          </a:xfrm>
          <a:prstGeom prst="rect">
            <a:avLst/>
          </a:prstGeom>
          <a:noFill/>
        </p:spPr>
        <p:txBody>
          <a:bodyPr wrap="square"/>
          <a:lstStyle/>
          <a:p>
            <a:pPr algn="ctr">
              <a:spcBef>
                <a:spcPts val="0"/>
              </a:spcBef>
              <a:spcAft>
                <a:spcPts val="0"/>
              </a:spcAft>
              <a:defRPr sz="1600" b="1">
                <a:solidFill>
                  <a:srgbClr val="2C2825"/>
                </a:solidFill>
                <a:latin typeface="Georgia"/>
              </a:defRPr>
            </a:pPr>
            <a:r>
              <a:t>Trigger</a:t>
            </a:r>
          </a:p>
        </p:txBody>
      </p:sp>
      <p:sp>
        <p:nvSpPr>
          <p:cNvPr id="7" name="TextBox 6"/>
          <p:cNvSpPr txBox="1"/>
          <p:nvPr/>
        </p:nvSpPr>
        <p:spPr>
          <a:xfrm>
            <a:off x="685800" y="3429000"/>
            <a:ext cx="2286000" cy="1097280"/>
          </a:xfrm>
          <a:prstGeom prst="rect">
            <a:avLst/>
          </a:prstGeom>
          <a:noFill/>
        </p:spPr>
        <p:txBody>
          <a:bodyPr wrap="square"/>
          <a:lstStyle/>
          <a:p>
            <a:pPr algn="ctr">
              <a:spcBef>
                <a:spcPts val="0"/>
              </a:spcBef>
              <a:spcAft>
                <a:spcPts val="0"/>
              </a:spcAft>
              <a:defRPr sz="1100" b="0">
                <a:solidFill>
                  <a:srgbClr val="6B655E"/>
                </a:solidFill>
                <a:latin typeface="Calibri"/>
              </a:defRPr>
            </a:pPr>
            <a:r>
              <a:t>A compliance deadline or contract expiration is detected by BoardIQ.</a:t>
            </a:r>
          </a:p>
        </p:txBody>
      </p:sp>
      <p:sp>
        <p:nvSpPr>
          <p:cNvPr id="8" name="Rectangle 7"/>
          <p:cNvSpPr/>
          <p:nvPr/>
        </p:nvSpPr>
        <p:spPr>
          <a:xfrm>
            <a:off x="3383280" y="2103120"/>
            <a:ext cx="2560320" cy="25603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97680" y="2331720"/>
            <a:ext cx="548640" cy="548640"/>
          </a:xfrm>
          <a:prstGeom prst="ellipse">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Georgia"/>
              </a:defRPr>
            </a:pPr>
            <a:r>
              <a:t>2</a:t>
            </a:r>
          </a:p>
        </p:txBody>
      </p:sp>
      <p:sp>
        <p:nvSpPr>
          <p:cNvPr id="10" name="TextBox 9"/>
          <p:cNvSpPr txBox="1"/>
          <p:nvPr/>
        </p:nvSpPr>
        <p:spPr>
          <a:xfrm>
            <a:off x="3520440" y="3063240"/>
            <a:ext cx="2286000" cy="320040"/>
          </a:xfrm>
          <a:prstGeom prst="rect">
            <a:avLst/>
          </a:prstGeom>
          <a:noFill/>
        </p:spPr>
        <p:txBody>
          <a:bodyPr wrap="square"/>
          <a:lstStyle/>
          <a:p>
            <a:pPr algn="ctr">
              <a:spcBef>
                <a:spcPts val="0"/>
              </a:spcBef>
              <a:spcAft>
                <a:spcPts val="0"/>
              </a:spcAft>
              <a:defRPr sz="1600" b="1">
                <a:solidFill>
                  <a:srgbClr val="2C2825"/>
                </a:solidFill>
                <a:latin typeface="Georgia"/>
              </a:defRPr>
            </a:pPr>
            <a:r>
              <a:t>Bid Request</a:t>
            </a:r>
          </a:p>
        </p:txBody>
      </p:sp>
      <p:sp>
        <p:nvSpPr>
          <p:cNvPr id="11" name="TextBox 10"/>
          <p:cNvSpPr txBox="1"/>
          <p:nvPr/>
        </p:nvSpPr>
        <p:spPr>
          <a:xfrm>
            <a:off x="3520440" y="3429000"/>
            <a:ext cx="2286000" cy="1097280"/>
          </a:xfrm>
          <a:prstGeom prst="rect">
            <a:avLst/>
          </a:prstGeom>
          <a:noFill/>
        </p:spPr>
        <p:txBody>
          <a:bodyPr wrap="square"/>
          <a:lstStyle/>
          <a:p>
            <a:pPr algn="ctr">
              <a:spcBef>
                <a:spcPts val="0"/>
              </a:spcBef>
              <a:spcAft>
                <a:spcPts val="0"/>
              </a:spcAft>
              <a:defRPr sz="1100" b="0">
                <a:solidFill>
                  <a:srgbClr val="6B655E"/>
                </a:solidFill>
                <a:latin typeface="Calibri"/>
              </a:defRPr>
            </a:pPr>
            <a:r>
              <a:t>BoardIQ creates a detailed bid request with scope, budget range, and timeline.</a:t>
            </a:r>
          </a:p>
        </p:txBody>
      </p:sp>
      <p:sp>
        <p:nvSpPr>
          <p:cNvPr id="12" name="Rectangle 11"/>
          <p:cNvSpPr/>
          <p:nvPr/>
        </p:nvSpPr>
        <p:spPr>
          <a:xfrm>
            <a:off x="6217920" y="2103120"/>
            <a:ext cx="2560320" cy="25603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0" y="2331720"/>
            <a:ext cx="548640" cy="548640"/>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Georgia"/>
              </a:defRPr>
            </a:pPr>
            <a:r>
              <a:t>3</a:t>
            </a:r>
          </a:p>
        </p:txBody>
      </p:sp>
      <p:sp>
        <p:nvSpPr>
          <p:cNvPr id="14" name="TextBox 13"/>
          <p:cNvSpPr txBox="1"/>
          <p:nvPr/>
        </p:nvSpPr>
        <p:spPr>
          <a:xfrm>
            <a:off x="6355080" y="3063240"/>
            <a:ext cx="2286000" cy="320040"/>
          </a:xfrm>
          <a:prstGeom prst="rect">
            <a:avLst/>
          </a:prstGeom>
          <a:noFill/>
        </p:spPr>
        <p:txBody>
          <a:bodyPr wrap="square"/>
          <a:lstStyle/>
          <a:p>
            <a:pPr algn="ctr">
              <a:spcBef>
                <a:spcPts val="0"/>
              </a:spcBef>
              <a:spcAft>
                <a:spcPts val="0"/>
              </a:spcAft>
              <a:defRPr sz="1600" b="1">
                <a:solidFill>
                  <a:srgbClr val="2C2825"/>
                </a:solidFill>
                <a:latin typeface="Georgia"/>
              </a:defRPr>
            </a:pPr>
            <a:r>
              <a:t>Vendors Compete</a:t>
            </a:r>
          </a:p>
        </p:txBody>
      </p:sp>
      <p:sp>
        <p:nvSpPr>
          <p:cNvPr id="15" name="TextBox 14"/>
          <p:cNvSpPr txBox="1"/>
          <p:nvPr/>
        </p:nvSpPr>
        <p:spPr>
          <a:xfrm>
            <a:off x="6355080" y="3429000"/>
            <a:ext cx="2286000" cy="1097280"/>
          </a:xfrm>
          <a:prstGeom prst="rect">
            <a:avLst/>
          </a:prstGeom>
          <a:noFill/>
        </p:spPr>
        <p:txBody>
          <a:bodyPr wrap="square"/>
          <a:lstStyle/>
          <a:p>
            <a:pPr algn="ctr">
              <a:spcBef>
                <a:spcPts val="0"/>
              </a:spcBef>
              <a:spcAft>
                <a:spcPts val="0"/>
              </a:spcAft>
              <a:defRPr sz="1100" b="0">
                <a:solidFill>
                  <a:srgbClr val="6B655E"/>
                </a:solidFill>
                <a:latin typeface="Calibri"/>
              </a:defRPr>
            </a:pPr>
            <a:r>
              <a:t>Pre-vetted vendors receive the request and submit competitive proposals.</a:t>
            </a:r>
          </a:p>
        </p:txBody>
      </p:sp>
      <p:sp>
        <p:nvSpPr>
          <p:cNvPr id="16" name="Rectangle 15"/>
          <p:cNvSpPr/>
          <p:nvPr/>
        </p:nvSpPr>
        <p:spPr>
          <a:xfrm>
            <a:off x="9052560" y="2103120"/>
            <a:ext cx="2560320" cy="25603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966960" y="2331720"/>
            <a:ext cx="548640" cy="548640"/>
          </a:xfrm>
          <a:prstGeom prst="ellipse">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Georgia"/>
              </a:defRPr>
            </a:pPr>
            <a:r>
              <a:t>4</a:t>
            </a:r>
          </a:p>
        </p:txBody>
      </p:sp>
      <p:sp>
        <p:nvSpPr>
          <p:cNvPr id="18" name="TextBox 17"/>
          <p:cNvSpPr txBox="1"/>
          <p:nvPr/>
        </p:nvSpPr>
        <p:spPr>
          <a:xfrm>
            <a:off x="9189720" y="3063240"/>
            <a:ext cx="2286000" cy="320040"/>
          </a:xfrm>
          <a:prstGeom prst="rect">
            <a:avLst/>
          </a:prstGeom>
          <a:noFill/>
        </p:spPr>
        <p:txBody>
          <a:bodyPr wrap="square"/>
          <a:lstStyle/>
          <a:p>
            <a:pPr algn="ctr">
              <a:spcBef>
                <a:spcPts val="0"/>
              </a:spcBef>
              <a:spcAft>
                <a:spcPts val="0"/>
              </a:spcAft>
              <a:defRPr sz="1600" b="1">
                <a:solidFill>
                  <a:srgbClr val="2C2825"/>
                </a:solidFill>
                <a:latin typeface="Georgia"/>
              </a:defRPr>
            </a:pPr>
            <a:r>
              <a:t>Board Decides</a:t>
            </a:r>
          </a:p>
        </p:txBody>
      </p:sp>
      <p:sp>
        <p:nvSpPr>
          <p:cNvPr id="19" name="TextBox 18"/>
          <p:cNvSpPr txBox="1"/>
          <p:nvPr/>
        </p:nvSpPr>
        <p:spPr>
          <a:xfrm>
            <a:off x="9189720" y="3429000"/>
            <a:ext cx="2286000" cy="1097280"/>
          </a:xfrm>
          <a:prstGeom prst="rect">
            <a:avLst/>
          </a:prstGeom>
          <a:noFill/>
        </p:spPr>
        <p:txBody>
          <a:bodyPr wrap="square"/>
          <a:lstStyle/>
          <a:p>
            <a:pPr algn="ctr">
              <a:spcBef>
                <a:spcPts val="0"/>
              </a:spcBef>
              <a:spcAft>
                <a:spcPts val="0"/>
              </a:spcAft>
              <a:defRPr sz="1100" b="0">
                <a:solidFill>
                  <a:srgbClr val="6B655E"/>
                </a:solidFill>
                <a:latin typeface="Calibri"/>
              </a:defRPr>
            </a:pPr>
            <a:r>
              <a:t>Compare bids side-by-side with benchmarking data. Award the contract.</a:t>
            </a:r>
          </a:p>
        </p:txBody>
      </p:sp>
      <p:sp>
        <p:nvSpPr>
          <p:cNvPr id="20" name="Rectangle 19"/>
          <p:cNvSpPr/>
          <p:nvPr/>
        </p:nvSpPr>
        <p:spPr>
          <a:xfrm>
            <a:off x="731520" y="5029200"/>
            <a:ext cx="10698480" cy="13716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029200"/>
            <a:ext cx="10698480" cy="508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166360"/>
            <a:ext cx="3657600" cy="320040"/>
          </a:xfrm>
          <a:prstGeom prst="rect">
            <a:avLst/>
          </a:prstGeom>
          <a:noFill/>
        </p:spPr>
        <p:txBody>
          <a:bodyPr wrap="square"/>
          <a:lstStyle/>
          <a:p>
            <a:pPr algn="l">
              <a:spcBef>
                <a:spcPts val="0"/>
              </a:spcBef>
              <a:spcAft>
                <a:spcPts val="0"/>
              </a:spcAft>
              <a:defRPr sz="1400" b="1">
                <a:solidFill>
                  <a:srgbClr val="C4893A"/>
                </a:solidFill>
                <a:latin typeface="Georgia"/>
              </a:defRPr>
            </a:pPr>
            <a:r>
              <a:t>Example: Live Bid Request</a:t>
            </a:r>
          </a:p>
        </p:txBody>
      </p:sp>
      <p:sp>
        <p:nvSpPr>
          <p:cNvPr id="23" name="TextBox 22"/>
          <p:cNvSpPr txBox="1"/>
          <p:nvPr/>
        </p:nvSpPr>
        <p:spPr>
          <a:xfrm>
            <a:off x="1005840" y="5577840"/>
            <a:ext cx="10058400" cy="274320"/>
          </a:xfrm>
          <a:prstGeom prst="rect">
            <a:avLst/>
          </a:prstGeom>
          <a:noFill/>
        </p:spPr>
        <p:txBody>
          <a:bodyPr wrap="square"/>
          <a:lstStyle/>
          <a:p>
            <a:pPr algn="l">
              <a:spcBef>
                <a:spcPts val="0"/>
              </a:spcBef>
              <a:spcAft>
                <a:spcPts val="0"/>
              </a:spcAft>
              <a:defRPr sz="1000" b="0">
                <a:solidFill>
                  <a:srgbClr val="8C857B"/>
                </a:solidFill>
                <a:latin typeface="Calibri"/>
              </a:defRPr>
            </a:pPr>
            <a:r>
              <a:t>Elevator Annual Inspection — 130 East 18th St  |  Due: April 2026  |  Budget: $1,600–$2,800  |  Status: Open  |  3 vendors notified</a:t>
            </a:r>
          </a:p>
        </p:txBody>
      </p:sp>
      <p:sp>
        <p:nvSpPr>
          <p:cNvPr id="24" name="TextBox 23"/>
          <p:cNvSpPr txBox="1"/>
          <p:nvPr/>
        </p:nvSpPr>
        <p:spPr>
          <a:xfrm>
            <a:off x="1005840" y="5897880"/>
            <a:ext cx="10058400" cy="274320"/>
          </a:xfrm>
          <a:prstGeom prst="rect">
            <a:avLst/>
          </a:prstGeom>
          <a:noFill/>
        </p:spPr>
        <p:txBody>
          <a:bodyPr wrap="square"/>
          <a:lstStyle/>
          <a:p>
            <a:pPr algn="l">
              <a:spcBef>
                <a:spcPts val="0"/>
              </a:spcBef>
              <a:spcAft>
                <a:spcPts val="0"/>
              </a:spcAft>
              <a:defRPr sz="1000" b="0">
                <a:solidFill>
                  <a:srgbClr val="8C857B"/>
                </a:solidFill>
                <a:latin typeface="Calibri"/>
              </a:defRPr>
            </a:pPr>
            <a:r>
              <a:t>Pest Control Rebid — 130 East 18th St  |  Due: May 2026  |  Budget: $24,000–$36,000  |  Status: Open  |  5 eligible vendors</a:t>
            </a:r>
          </a:p>
        </p:txBody>
      </p:sp>
      <p:sp>
        <p:nvSpPr>
          <p:cNvPr id="25" name="TextBox 24"/>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FEATURE DEEP DIVE</a:t>
            </a:r>
          </a:p>
        </p:txBody>
      </p:sp>
      <p:sp>
        <p:nvSpPr>
          <p:cNvPr id="3" name="TextBox 2"/>
          <p:cNvSpPr txBox="1"/>
          <p:nvPr/>
        </p:nvSpPr>
        <p:spPr>
          <a:xfrm>
            <a:off x="731520" y="822960"/>
            <a:ext cx="9144000" cy="640080"/>
          </a:xfrm>
          <a:prstGeom prst="rect">
            <a:avLst/>
          </a:prstGeom>
          <a:noFill/>
        </p:spPr>
        <p:txBody>
          <a:bodyPr wrap="square"/>
          <a:lstStyle/>
          <a:p>
            <a:pPr algn="l">
              <a:spcBef>
                <a:spcPts val="0"/>
              </a:spcBef>
              <a:spcAft>
                <a:spcPts val="0"/>
              </a:spcAft>
              <a:defRPr sz="3600" b="1">
                <a:solidFill>
                  <a:srgbClr val="2C2825"/>
                </a:solidFill>
                <a:latin typeface="Georgia"/>
              </a:defRPr>
            </a:pPr>
            <a:r>
              <a:t>Contract Management</a:t>
            </a:r>
          </a:p>
        </p:txBody>
      </p:sp>
      <p:sp>
        <p:nvSpPr>
          <p:cNvPr id="4" name="TextBox 3"/>
          <p:cNvSpPr txBox="1"/>
          <p:nvPr/>
        </p:nvSpPr>
        <p:spPr>
          <a:xfrm>
            <a:off x="731520" y="1554480"/>
            <a:ext cx="9144000" cy="457200"/>
          </a:xfrm>
          <a:prstGeom prst="rect">
            <a:avLst/>
          </a:prstGeom>
          <a:noFill/>
        </p:spPr>
        <p:txBody>
          <a:bodyPr wrap="square"/>
          <a:lstStyle/>
          <a:p>
            <a:pPr algn="l">
              <a:spcBef>
                <a:spcPts val="0"/>
              </a:spcBef>
              <a:spcAft>
                <a:spcPts val="0"/>
              </a:spcAft>
              <a:defRPr sz="1400" b="0">
                <a:solidFill>
                  <a:srgbClr val="6B655E"/>
                </a:solidFill>
                <a:latin typeface="Calibri"/>
              </a:defRPr>
            </a:pPr>
            <a:r>
              <a:t>Every contract in one place — with AI-powered alerts so nothing slips through the cracks.</a:t>
            </a:r>
          </a:p>
        </p:txBody>
      </p:sp>
      <p:sp>
        <p:nvSpPr>
          <p:cNvPr id="5" name="Rectangle 4"/>
          <p:cNvSpPr/>
          <p:nvPr/>
        </p:nvSpPr>
        <p:spPr>
          <a:xfrm>
            <a:off x="731520" y="2194560"/>
            <a:ext cx="10698480" cy="7315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194560"/>
            <a:ext cx="63500" cy="7315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2286000" cy="274320"/>
          </a:xfrm>
          <a:prstGeom prst="rect">
            <a:avLst/>
          </a:prstGeom>
          <a:noFill/>
        </p:spPr>
        <p:txBody>
          <a:bodyPr wrap="square"/>
          <a:lstStyle/>
          <a:p>
            <a:pPr algn="l">
              <a:spcBef>
                <a:spcPts val="0"/>
              </a:spcBef>
              <a:spcAft>
                <a:spcPts val="0"/>
              </a:spcAft>
              <a:defRPr sz="1200" b="1">
                <a:solidFill>
                  <a:srgbClr val="2C2825"/>
                </a:solidFill>
                <a:latin typeface="Calibri"/>
              </a:defRPr>
            </a:pPr>
            <a:r>
              <a:t>PS Marcato Elevator</a:t>
            </a:r>
          </a:p>
        </p:txBody>
      </p:sp>
      <p:sp>
        <p:nvSpPr>
          <p:cNvPr id="8" name="TextBox 7"/>
          <p:cNvSpPr txBox="1"/>
          <p:nvPr/>
        </p:nvSpPr>
        <p:spPr>
          <a:xfrm>
            <a:off x="3383280" y="2304288"/>
            <a:ext cx="1463040" cy="228600"/>
          </a:xfrm>
          <a:prstGeom prst="rect">
            <a:avLst/>
          </a:prstGeom>
          <a:noFill/>
        </p:spPr>
        <p:txBody>
          <a:bodyPr wrap="square"/>
          <a:lstStyle/>
          <a:p>
            <a:pPr algn="l">
              <a:spcBef>
                <a:spcPts val="0"/>
              </a:spcBef>
              <a:spcAft>
                <a:spcPts val="0"/>
              </a:spcAft>
              <a:defRPr sz="900" b="1">
                <a:solidFill>
                  <a:srgbClr val="C0392B"/>
                </a:solidFill>
                <a:latin typeface="Calibri"/>
              </a:defRPr>
            </a:pPr>
            <a:r>
              <a:t>EXPIRING SOON</a:t>
            </a:r>
          </a:p>
        </p:txBody>
      </p:sp>
      <p:sp>
        <p:nvSpPr>
          <p:cNvPr id="9" name="TextBox 8"/>
          <p:cNvSpPr txBox="1"/>
          <p:nvPr/>
        </p:nvSpPr>
        <p:spPr>
          <a:xfrm>
            <a:off x="4937760" y="2286000"/>
            <a:ext cx="1371600" cy="274320"/>
          </a:xfrm>
          <a:prstGeom prst="rect">
            <a:avLst/>
          </a:prstGeom>
          <a:noFill/>
        </p:spPr>
        <p:txBody>
          <a:bodyPr wrap="square"/>
          <a:lstStyle/>
          <a:p>
            <a:pPr algn="l">
              <a:spcBef>
                <a:spcPts val="0"/>
              </a:spcBef>
              <a:spcAft>
                <a:spcPts val="0"/>
              </a:spcAft>
              <a:defRPr sz="1200" b="1">
                <a:solidFill>
                  <a:srgbClr val="2C2825"/>
                </a:solidFill>
                <a:latin typeface="Georgia"/>
              </a:defRPr>
            </a:pPr>
            <a:r>
              <a:t>$23,369/yr</a:t>
            </a:r>
          </a:p>
        </p:txBody>
      </p:sp>
      <p:sp>
        <p:nvSpPr>
          <p:cNvPr id="10" name="TextBox 9"/>
          <p:cNvSpPr txBox="1"/>
          <p:nvPr/>
        </p:nvSpPr>
        <p:spPr>
          <a:xfrm>
            <a:off x="1005840" y="2578608"/>
            <a:ext cx="4572000" cy="274320"/>
          </a:xfrm>
          <a:prstGeom prst="rect">
            <a:avLst/>
          </a:prstGeom>
          <a:noFill/>
        </p:spPr>
        <p:txBody>
          <a:bodyPr wrap="square"/>
          <a:lstStyle/>
          <a:p>
            <a:pPr algn="l">
              <a:spcBef>
                <a:spcPts val="0"/>
              </a:spcBef>
              <a:spcAft>
                <a:spcPts val="0"/>
              </a:spcAft>
              <a:defRPr sz="900" b="0">
                <a:solidFill>
                  <a:srgbClr val="6B655E"/>
                </a:solidFill>
                <a:latin typeface="Calibri"/>
              </a:defRPr>
            </a:pPr>
            <a:r>
              <a:t>Expires May 2026 — 90 days notice needed by Mar 2</a:t>
            </a:r>
          </a:p>
        </p:txBody>
      </p:sp>
      <p:sp>
        <p:nvSpPr>
          <p:cNvPr id="11" name="TextBox 10"/>
          <p:cNvSpPr txBox="1"/>
          <p:nvPr/>
        </p:nvSpPr>
        <p:spPr>
          <a:xfrm>
            <a:off x="6400800" y="2423160"/>
            <a:ext cx="4114800" cy="274320"/>
          </a:xfrm>
          <a:prstGeom prst="rect">
            <a:avLst/>
          </a:prstGeom>
          <a:noFill/>
        </p:spPr>
        <p:txBody>
          <a:bodyPr wrap="square"/>
          <a:lstStyle/>
          <a:p>
            <a:pPr algn="r">
              <a:spcBef>
                <a:spcPts val="0"/>
              </a:spcBef>
              <a:spcAft>
                <a:spcPts val="0"/>
              </a:spcAft>
              <a:defRPr sz="1000" b="1">
                <a:solidFill>
                  <a:srgbClr val="1A7A4A"/>
                </a:solidFill>
                <a:latin typeface="Calibri"/>
              </a:defRPr>
            </a:pPr>
            <a:r>
              <a:t>$81/unit — below median</a:t>
            </a:r>
          </a:p>
        </p:txBody>
      </p:sp>
      <p:sp>
        <p:nvSpPr>
          <p:cNvPr id="12" name="Rectangle 11"/>
          <p:cNvSpPr/>
          <p:nvPr/>
        </p:nvSpPr>
        <p:spPr>
          <a:xfrm>
            <a:off x="731520" y="3063240"/>
            <a:ext cx="10698480" cy="7315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063240"/>
            <a:ext cx="63500" cy="7315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154680"/>
            <a:ext cx="2286000" cy="274320"/>
          </a:xfrm>
          <a:prstGeom prst="rect">
            <a:avLst/>
          </a:prstGeom>
          <a:noFill/>
        </p:spPr>
        <p:txBody>
          <a:bodyPr wrap="square"/>
          <a:lstStyle/>
          <a:p>
            <a:pPr algn="l">
              <a:spcBef>
                <a:spcPts val="0"/>
              </a:spcBef>
              <a:spcAft>
                <a:spcPts val="0"/>
              </a:spcAft>
              <a:defRPr sz="1200" b="1">
                <a:solidFill>
                  <a:srgbClr val="2C2825"/>
                </a:solidFill>
                <a:latin typeface="Calibri"/>
              </a:defRPr>
            </a:pPr>
            <a:r>
              <a:t>Dial-A-Bug Pest Control</a:t>
            </a:r>
          </a:p>
        </p:txBody>
      </p:sp>
      <p:sp>
        <p:nvSpPr>
          <p:cNvPr id="15" name="TextBox 14"/>
          <p:cNvSpPr txBox="1"/>
          <p:nvPr/>
        </p:nvSpPr>
        <p:spPr>
          <a:xfrm>
            <a:off x="3383280" y="3172968"/>
            <a:ext cx="1463040" cy="228600"/>
          </a:xfrm>
          <a:prstGeom prst="rect">
            <a:avLst/>
          </a:prstGeom>
          <a:noFill/>
        </p:spPr>
        <p:txBody>
          <a:bodyPr wrap="square"/>
          <a:lstStyle/>
          <a:p>
            <a:pPr algn="l">
              <a:spcBef>
                <a:spcPts val="0"/>
              </a:spcBef>
              <a:spcAft>
                <a:spcPts val="0"/>
              </a:spcAft>
              <a:defRPr sz="900" b="1">
                <a:solidFill>
                  <a:srgbClr val="C0392B"/>
                </a:solidFill>
                <a:latin typeface="Calibri"/>
              </a:defRPr>
            </a:pPr>
            <a:r>
              <a:t>EXPIRING SOON</a:t>
            </a:r>
          </a:p>
        </p:txBody>
      </p:sp>
      <p:sp>
        <p:nvSpPr>
          <p:cNvPr id="16" name="TextBox 15"/>
          <p:cNvSpPr txBox="1"/>
          <p:nvPr/>
        </p:nvSpPr>
        <p:spPr>
          <a:xfrm>
            <a:off x="4937760" y="3154680"/>
            <a:ext cx="1371600" cy="274320"/>
          </a:xfrm>
          <a:prstGeom prst="rect">
            <a:avLst/>
          </a:prstGeom>
          <a:noFill/>
        </p:spPr>
        <p:txBody>
          <a:bodyPr wrap="square"/>
          <a:lstStyle/>
          <a:p>
            <a:pPr algn="l">
              <a:spcBef>
                <a:spcPts val="0"/>
              </a:spcBef>
              <a:spcAft>
                <a:spcPts val="0"/>
              </a:spcAft>
              <a:defRPr sz="1200" b="1">
                <a:solidFill>
                  <a:srgbClr val="2C2825"/>
                </a:solidFill>
                <a:latin typeface="Georgia"/>
              </a:defRPr>
            </a:pPr>
            <a:r>
              <a:t>$29,749/yr</a:t>
            </a:r>
          </a:p>
        </p:txBody>
      </p:sp>
      <p:sp>
        <p:nvSpPr>
          <p:cNvPr id="17" name="TextBox 16"/>
          <p:cNvSpPr txBox="1"/>
          <p:nvPr/>
        </p:nvSpPr>
        <p:spPr>
          <a:xfrm>
            <a:off x="1005840" y="3447288"/>
            <a:ext cx="4572000" cy="274320"/>
          </a:xfrm>
          <a:prstGeom prst="rect">
            <a:avLst/>
          </a:prstGeom>
          <a:noFill/>
        </p:spPr>
        <p:txBody>
          <a:bodyPr wrap="square"/>
          <a:lstStyle/>
          <a:p>
            <a:pPr algn="l">
              <a:spcBef>
                <a:spcPts val="0"/>
              </a:spcBef>
              <a:spcAft>
                <a:spcPts val="0"/>
              </a:spcAft>
              <a:defRPr sz="900" b="0">
                <a:solidFill>
                  <a:srgbClr val="6B655E"/>
                </a:solidFill>
                <a:latin typeface="Calibri"/>
              </a:defRPr>
            </a:pPr>
            <a:r>
              <a:t>No auto-renew — new agreement needed by May 31</a:t>
            </a:r>
          </a:p>
        </p:txBody>
      </p:sp>
      <p:sp>
        <p:nvSpPr>
          <p:cNvPr id="18" name="TextBox 17"/>
          <p:cNvSpPr txBox="1"/>
          <p:nvPr/>
        </p:nvSpPr>
        <p:spPr>
          <a:xfrm>
            <a:off x="6400800" y="3291840"/>
            <a:ext cx="4114800" cy="274320"/>
          </a:xfrm>
          <a:prstGeom prst="rect">
            <a:avLst/>
          </a:prstGeom>
          <a:noFill/>
        </p:spPr>
        <p:txBody>
          <a:bodyPr wrap="square"/>
          <a:lstStyle/>
          <a:p>
            <a:pPr algn="r">
              <a:spcBef>
                <a:spcPts val="0"/>
              </a:spcBef>
              <a:spcAft>
                <a:spcPts val="0"/>
              </a:spcAft>
              <a:defRPr sz="1000" b="1">
                <a:solidFill>
                  <a:srgbClr val="6B655E"/>
                </a:solidFill>
                <a:latin typeface="Calibri"/>
              </a:defRPr>
            </a:pPr>
            <a:r>
              <a:t>$104/unit — at market rate</a:t>
            </a:r>
          </a:p>
        </p:txBody>
      </p:sp>
      <p:sp>
        <p:nvSpPr>
          <p:cNvPr id="19" name="Rectangle 18"/>
          <p:cNvSpPr/>
          <p:nvPr/>
        </p:nvSpPr>
        <p:spPr>
          <a:xfrm>
            <a:off x="731520" y="3931920"/>
            <a:ext cx="10698480" cy="7315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3931920"/>
            <a:ext cx="63500" cy="7315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023360"/>
            <a:ext cx="2286000" cy="274320"/>
          </a:xfrm>
          <a:prstGeom prst="rect">
            <a:avLst/>
          </a:prstGeom>
          <a:noFill/>
        </p:spPr>
        <p:txBody>
          <a:bodyPr wrap="square"/>
          <a:lstStyle/>
          <a:p>
            <a:pPr algn="l">
              <a:spcBef>
                <a:spcPts val="0"/>
              </a:spcBef>
              <a:spcAft>
                <a:spcPts val="0"/>
              </a:spcAft>
              <a:defRPr sz="1200" b="1">
                <a:solidFill>
                  <a:srgbClr val="2C2825"/>
                </a:solidFill>
                <a:latin typeface="Calibri"/>
              </a:defRPr>
            </a:pPr>
            <a:r>
              <a:t>Adriatic Plumbing</a:t>
            </a:r>
          </a:p>
        </p:txBody>
      </p:sp>
      <p:sp>
        <p:nvSpPr>
          <p:cNvPr id="22" name="TextBox 21"/>
          <p:cNvSpPr txBox="1"/>
          <p:nvPr/>
        </p:nvSpPr>
        <p:spPr>
          <a:xfrm>
            <a:off x="3383280" y="4041648"/>
            <a:ext cx="1463040" cy="228600"/>
          </a:xfrm>
          <a:prstGeom prst="rect">
            <a:avLst/>
          </a:prstGeom>
          <a:noFill/>
        </p:spPr>
        <p:txBody>
          <a:bodyPr wrap="square"/>
          <a:lstStyle/>
          <a:p>
            <a:pPr algn="l">
              <a:spcBef>
                <a:spcPts val="0"/>
              </a:spcBef>
              <a:spcAft>
                <a:spcPts val="0"/>
              </a:spcAft>
              <a:defRPr sz="900" b="1">
                <a:solidFill>
                  <a:srgbClr val="C0392B"/>
                </a:solidFill>
                <a:latin typeface="Calibri"/>
              </a:defRPr>
            </a:pPr>
            <a:r>
              <a:t>EXPIRED</a:t>
            </a:r>
          </a:p>
        </p:txBody>
      </p:sp>
      <p:sp>
        <p:nvSpPr>
          <p:cNvPr id="23" name="TextBox 22"/>
          <p:cNvSpPr txBox="1"/>
          <p:nvPr/>
        </p:nvSpPr>
        <p:spPr>
          <a:xfrm>
            <a:off x="4937760" y="4023360"/>
            <a:ext cx="1371600" cy="274320"/>
          </a:xfrm>
          <a:prstGeom prst="rect">
            <a:avLst/>
          </a:prstGeom>
          <a:noFill/>
        </p:spPr>
        <p:txBody>
          <a:bodyPr wrap="square"/>
          <a:lstStyle/>
          <a:p>
            <a:pPr algn="l">
              <a:spcBef>
                <a:spcPts val="0"/>
              </a:spcBef>
              <a:spcAft>
                <a:spcPts val="0"/>
              </a:spcAft>
              <a:defRPr sz="1200" b="1">
                <a:solidFill>
                  <a:srgbClr val="2C2825"/>
                </a:solidFill>
                <a:latin typeface="Georgia"/>
              </a:defRPr>
            </a:pPr>
            <a:r>
              <a:t>$104,953/yr</a:t>
            </a:r>
          </a:p>
        </p:txBody>
      </p:sp>
      <p:sp>
        <p:nvSpPr>
          <p:cNvPr id="24" name="TextBox 23"/>
          <p:cNvSpPr txBox="1"/>
          <p:nvPr/>
        </p:nvSpPr>
        <p:spPr>
          <a:xfrm>
            <a:off x="1005840" y="4315968"/>
            <a:ext cx="4572000" cy="274320"/>
          </a:xfrm>
          <a:prstGeom prst="rect">
            <a:avLst/>
          </a:prstGeom>
          <a:noFill/>
        </p:spPr>
        <p:txBody>
          <a:bodyPr wrap="square"/>
          <a:lstStyle/>
          <a:p>
            <a:pPr algn="l">
              <a:spcBef>
                <a:spcPts val="0"/>
              </a:spcBef>
              <a:spcAft>
                <a:spcPts val="0"/>
              </a:spcAft>
              <a:defRPr sz="900" b="0">
                <a:solidFill>
                  <a:srgbClr val="6B655E"/>
                </a:solidFill>
                <a:latin typeface="Calibri"/>
              </a:defRPr>
            </a:pPr>
            <a:r>
              <a:t>Expired Dec 2025 — operating without formal contract</a:t>
            </a:r>
          </a:p>
        </p:txBody>
      </p:sp>
      <p:sp>
        <p:nvSpPr>
          <p:cNvPr id="25" name="TextBox 24"/>
          <p:cNvSpPr txBox="1"/>
          <p:nvPr/>
        </p:nvSpPr>
        <p:spPr>
          <a:xfrm>
            <a:off x="6400800" y="4160520"/>
            <a:ext cx="4114800" cy="274320"/>
          </a:xfrm>
          <a:prstGeom prst="rect">
            <a:avLst/>
          </a:prstGeom>
          <a:noFill/>
        </p:spPr>
        <p:txBody>
          <a:bodyPr wrap="square"/>
          <a:lstStyle/>
          <a:p>
            <a:pPr algn="r">
              <a:spcBef>
                <a:spcPts val="0"/>
              </a:spcBef>
              <a:spcAft>
                <a:spcPts val="0"/>
              </a:spcAft>
              <a:defRPr sz="1000" b="1">
                <a:solidFill>
                  <a:srgbClr val="C0392B"/>
                </a:solidFill>
                <a:latin typeface="Calibri"/>
              </a:defRPr>
            </a:pPr>
            <a:r>
              <a:t>$366/unit — 89% ABOVE median</a:t>
            </a:r>
          </a:p>
        </p:txBody>
      </p:sp>
      <p:sp>
        <p:nvSpPr>
          <p:cNvPr id="26" name="Rectangle 25"/>
          <p:cNvSpPr/>
          <p:nvPr/>
        </p:nvSpPr>
        <p:spPr>
          <a:xfrm>
            <a:off x="731520" y="4800599"/>
            <a:ext cx="10698480" cy="7315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4800599"/>
            <a:ext cx="63500" cy="73152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892039"/>
            <a:ext cx="2286000" cy="274320"/>
          </a:xfrm>
          <a:prstGeom prst="rect">
            <a:avLst/>
          </a:prstGeom>
          <a:noFill/>
        </p:spPr>
        <p:txBody>
          <a:bodyPr wrap="square"/>
          <a:lstStyle/>
          <a:p>
            <a:pPr algn="l">
              <a:spcBef>
                <a:spcPts val="0"/>
              </a:spcBef>
              <a:spcAft>
                <a:spcPts val="0"/>
              </a:spcAft>
              <a:defRPr sz="1200" b="1">
                <a:solidFill>
                  <a:srgbClr val="2C2825"/>
                </a:solidFill>
                <a:latin typeface="Calibri"/>
              </a:defRPr>
            </a:pPr>
            <a:r>
              <a:t>Simon Industries HVAC</a:t>
            </a:r>
          </a:p>
        </p:txBody>
      </p:sp>
      <p:sp>
        <p:nvSpPr>
          <p:cNvPr id="29" name="TextBox 28"/>
          <p:cNvSpPr txBox="1"/>
          <p:nvPr/>
        </p:nvSpPr>
        <p:spPr>
          <a:xfrm>
            <a:off x="3383280" y="4910327"/>
            <a:ext cx="1463040" cy="228600"/>
          </a:xfrm>
          <a:prstGeom prst="rect">
            <a:avLst/>
          </a:prstGeom>
          <a:noFill/>
        </p:spPr>
        <p:txBody>
          <a:bodyPr wrap="square"/>
          <a:lstStyle/>
          <a:p>
            <a:pPr algn="l">
              <a:spcBef>
                <a:spcPts val="0"/>
              </a:spcBef>
              <a:spcAft>
                <a:spcPts val="0"/>
              </a:spcAft>
              <a:defRPr sz="900" b="1">
                <a:solidFill>
                  <a:srgbClr val="C4893A"/>
                </a:solidFill>
                <a:latin typeface="Calibri"/>
              </a:defRPr>
            </a:pPr>
            <a:r>
              <a:t>ACTIVE</a:t>
            </a:r>
          </a:p>
        </p:txBody>
      </p:sp>
      <p:sp>
        <p:nvSpPr>
          <p:cNvPr id="30" name="TextBox 29"/>
          <p:cNvSpPr txBox="1"/>
          <p:nvPr/>
        </p:nvSpPr>
        <p:spPr>
          <a:xfrm>
            <a:off x="4937760" y="4892039"/>
            <a:ext cx="1371600" cy="274320"/>
          </a:xfrm>
          <a:prstGeom prst="rect">
            <a:avLst/>
          </a:prstGeom>
          <a:noFill/>
        </p:spPr>
        <p:txBody>
          <a:bodyPr wrap="square"/>
          <a:lstStyle/>
          <a:p>
            <a:pPr algn="l">
              <a:spcBef>
                <a:spcPts val="0"/>
              </a:spcBef>
              <a:spcAft>
                <a:spcPts val="0"/>
              </a:spcAft>
              <a:defRPr sz="1200" b="1">
                <a:solidFill>
                  <a:srgbClr val="2C2825"/>
                </a:solidFill>
                <a:latin typeface="Georgia"/>
              </a:defRPr>
            </a:pPr>
            <a:r>
              <a:t>$44,156/yr</a:t>
            </a:r>
          </a:p>
        </p:txBody>
      </p:sp>
      <p:sp>
        <p:nvSpPr>
          <p:cNvPr id="31" name="TextBox 30"/>
          <p:cNvSpPr txBox="1"/>
          <p:nvPr/>
        </p:nvSpPr>
        <p:spPr>
          <a:xfrm>
            <a:off x="1005840" y="5184647"/>
            <a:ext cx="4572000" cy="274320"/>
          </a:xfrm>
          <a:prstGeom prst="rect">
            <a:avLst/>
          </a:prstGeom>
          <a:noFill/>
        </p:spPr>
        <p:txBody>
          <a:bodyPr wrap="square"/>
          <a:lstStyle/>
          <a:p>
            <a:pPr algn="l">
              <a:spcBef>
                <a:spcPts val="0"/>
              </a:spcBef>
              <a:spcAft>
                <a:spcPts val="0"/>
              </a:spcAft>
              <a:defRPr sz="900" b="0">
                <a:solidFill>
                  <a:srgbClr val="6B655E"/>
                </a:solidFill>
                <a:latin typeface="Calibri"/>
              </a:defRPr>
            </a:pPr>
            <a:r>
              <a:t>Missing contract document on file</a:t>
            </a:r>
          </a:p>
        </p:txBody>
      </p:sp>
      <p:sp>
        <p:nvSpPr>
          <p:cNvPr id="32" name="TextBox 31"/>
          <p:cNvSpPr txBox="1"/>
          <p:nvPr/>
        </p:nvSpPr>
        <p:spPr>
          <a:xfrm>
            <a:off x="6400800" y="5029199"/>
            <a:ext cx="4114800" cy="274320"/>
          </a:xfrm>
          <a:prstGeom prst="rect">
            <a:avLst/>
          </a:prstGeom>
          <a:noFill/>
        </p:spPr>
        <p:txBody>
          <a:bodyPr wrap="square"/>
          <a:lstStyle/>
          <a:p>
            <a:pPr algn="r">
              <a:spcBef>
                <a:spcPts val="0"/>
              </a:spcBef>
              <a:spcAft>
                <a:spcPts val="0"/>
              </a:spcAft>
              <a:defRPr sz="1000" b="1">
                <a:solidFill>
                  <a:srgbClr val="6B655E"/>
                </a:solidFill>
                <a:latin typeface="Calibri"/>
              </a:defRPr>
            </a:pPr>
            <a:r>
              <a:t>$154/unit — 20% above median</a:t>
            </a:r>
          </a:p>
        </p:txBody>
      </p:sp>
      <p:sp>
        <p:nvSpPr>
          <p:cNvPr id="33" name="Rectangle 32"/>
          <p:cNvSpPr/>
          <p:nvPr/>
        </p:nvSpPr>
        <p:spPr>
          <a:xfrm>
            <a:off x="731520" y="5669280"/>
            <a:ext cx="10698480" cy="73152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1520" y="5669280"/>
            <a:ext cx="63500" cy="7315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760720"/>
            <a:ext cx="2286000" cy="274320"/>
          </a:xfrm>
          <a:prstGeom prst="rect">
            <a:avLst/>
          </a:prstGeom>
          <a:noFill/>
        </p:spPr>
        <p:txBody>
          <a:bodyPr wrap="square"/>
          <a:lstStyle/>
          <a:p>
            <a:pPr algn="l">
              <a:spcBef>
                <a:spcPts val="0"/>
              </a:spcBef>
              <a:spcAft>
                <a:spcPts val="0"/>
              </a:spcAft>
              <a:defRPr sz="1200" b="1">
                <a:solidFill>
                  <a:srgbClr val="2C2825"/>
                </a:solidFill>
                <a:latin typeface="Calibri"/>
              </a:defRPr>
            </a:pPr>
            <a:r>
              <a:t>Runwise Smart Heating</a:t>
            </a:r>
          </a:p>
        </p:txBody>
      </p:sp>
      <p:sp>
        <p:nvSpPr>
          <p:cNvPr id="36" name="TextBox 35"/>
          <p:cNvSpPr txBox="1"/>
          <p:nvPr/>
        </p:nvSpPr>
        <p:spPr>
          <a:xfrm>
            <a:off x="3383280" y="5779008"/>
            <a:ext cx="1463040" cy="228600"/>
          </a:xfrm>
          <a:prstGeom prst="rect">
            <a:avLst/>
          </a:prstGeom>
          <a:noFill/>
        </p:spPr>
        <p:txBody>
          <a:bodyPr wrap="square"/>
          <a:lstStyle/>
          <a:p>
            <a:pPr algn="l">
              <a:spcBef>
                <a:spcPts val="0"/>
              </a:spcBef>
              <a:spcAft>
                <a:spcPts val="0"/>
              </a:spcAft>
              <a:defRPr sz="900" b="1">
                <a:solidFill>
                  <a:srgbClr val="1A7A4A"/>
                </a:solidFill>
                <a:latin typeface="Calibri"/>
              </a:defRPr>
            </a:pPr>
            <a:r>
              <a:t>EXPIRING SOON</a:t>
            </a:r>
          </a:p>
        </p:txBody>
      </p:sp>
      <p:sp>
        <p:nvSpPr>
          <p:cNvPr id="37" name="TextBox 36"/>
          <p:cNvSpPr txBox="1"/>
          <p:nvPr/>
        </p:nvSpPr>
        <p:spPr>
          <a:xfrm>
            <a:off x="4937760" y="5760720"/>
            <a:ext cx="1371600" cy="274320"/>
          </a:xfrm>
          <a:prstGeom prst="rect">
            <a:avLst/>
          </a:prstGeom>
          <a:noFill/>
        </p:spPr>
        <p:txBody>
          <a:bodyPr wrap="square"/>
          <a:lstStyle/>
          <a:p>
            <a:pPr algn="l">
              <a:spcBef>
                <a:spcPts val="0"/>
              </a:spcBef>
              <a:spcAft>
                <a:spcPts val="0"/>
              </a:spcAft>
              <a:defRPr sz="1200" b="1">
                <a:solidFill>
                  <a:srgbClr val="2C2825"/>
                </a:solidFill>
                <a:latin typeface="Georgia"/>
              </a:defRPr>
            </a:pPr>
            <a:r>
              <a:t>$18,000/yr</a:t>
            </a:r>
          </a:p>
        </p:txBody>
      </p:sp>
      <p:sp>
        <p:nvSpPr>
          <p:cNvPr id="38" name="TextBox 37"/>
          <p:cNvSpPr txBox="1"/>
          <p:nvPr/>
        </p:nvSpPr>
        <p:spPr>
          <a:xfrm>
            <a:off x="1005840" y="6053328"/>
            <a:ext cx="4572000" cy="274320"/>
          </a:xfrm>
          <a:prstGeom prst="rect">
            <a:avLst/>
          </a:prstGeom>
          <a:noFill/>
        </p:spPr>
        <p:txBody>
          <a:bodyPr wrap="square"/>
          <a:lstStyle/>
          <a:p>
            <a:pPr algn="l">
              <a:spcBef>
                <a:spcPts val="0"/>
              </a:spcBef>
              <a:spcAft>
                <a:spcPts val="0"/>
              </a:spcAft>
              <a:defRPr sz="900" b="0">
                <a:solidFill>
                  <a:srgbClr val="6B655E"/>
                </a:solidFill>
                <a:latin typeface="Calibri"/>
              </a:defRPr>
            </a:pPr>
            <a:r>
              <a:t>Review ROI before renewal — May 2026</a:t>
            </a:r>
          </a:p>
        </p:txBody>
      </p:sp>
      <p:sp>
        <p:nvSpPr>
          <p:cNvPr id="39" name="TextBox 38"/>
          <p:cNvSpPr txBox="1"/>
          <p:nvPr/>
        </p:nvSpPr>
        <p:spPr>
          <a:xfrm>
            <a:off x="6400800" y="5897880"/>
            <a:ext cx="4114800" cy="274320"/>
          </a:xfrm>
          <a:prstGeom prst="rect">
            <a:avLst/>
          </a:prstGeom>
          <a:noFill/>
        </p:spPr>
        <p:txBody>
          <a:bodyPr wrap="square"/>
          <a:lstStyle/>
          <a:p>
            <a:pPr algn="r">
              <a:spcBef>
                <a:spcPts val="0"/>
              </a:spcBef>
              <a:spcAft>
                <a:spcPts val="0"/>
              </a:spcAft>
              <a:defRPr sz="1000" b="1">
                <a:solidFill>
                  <a:srgbClr val="1A7A4A"/>
                </a:solidFill>
                <a:latin typeface="Calibri"/>
              </a:defRPr>
            </a:pPr>
            <a:r>
              <a:t>$63/unit — competitive</a:t>
            </a:r>
          </a:p>
        </p:txBody>
      </p:sp>
      <p:sp>
        <p:nvSpPr>
          <p:cNvPr id="40" name="TextBox 39"/>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CASE STUDY</a:t>
            </a:r>
          </a:p>
        </p:txBody>
      </p:sp>
      <p:sp>
        <p:nvSpPr>
          <p:cNvPr id="3" name="TextBox 2"/>
          <p:cNvSpPr txBox="1"/>
          <p:nvPr/>
        </p:nvSpPr>
        <p:spPr>
          <a:xfrm>
            <a:off x="731520" y="822960"/>
            <a:ext cx="9144000" cy="640080"/>
          </a:xfrm>
          <a:prstGeom prst="rect">
            <a:avLst/>
          </a:prstGeom>
          <a:noFill/>
        </p:spPr>
        <p:txBody>
          <a:bodyPr wrap="square"/>
          <a:lstStyle/>
          <a:p>
            <a:pPr algn="l">
              <a:spcBef>
                <a:spcPts val="0"/>
              </a:spcBef>
              <a:spcAft>
                <a:spcPts val="0"/>
              </a:spcAft>
              <a:defRPr sz="3600" b="1">
                <a:solidFill>
                  <a:srgbClr val="2C2825"/>
                </a:solidFill>
                <a:latin typeface="Georgia"/>
              </a:defRPr>
            </a:pPr>
            <a:r>
              <a:t>How Boards Save Real Money</a:t>
            </a:r>
          </a:p>
        </p:txBody>
      </p:sp>
      <p:sp>
        <p:nvSpPr>
          <p:cNvPr id="4" name="TextBox 3"/>
          <p:cNvSpPr txBox="1"/>
          <p:nvPr/>
        </p:nvSpPr>
        <p:spPr>
          <a:xfrm>
            <a:off x="731520" y="1554480"/>
            <a:ext cx="9144000" cy="365760"/>
          </a:xfrm>
          <a:prstGeom prst="rect">
            <a:avLst/>
          </a:prstGeom>
          <a:noFill/>
        </p:spPr>
        <p:txBody>
          <a:bodyPr wrap="square"/>
          <a:lstStyle/>
          <a:p>
            <a:pPr algn="l">
              <a:spcBef>
                <a:spcPts val="0"/>
              </a:spcBef>
              <a:spcAft>
                <a:spcPts val="0"/>
              </a:spcAft>
              <a:defRPr sz="1400" b="0">
                <a:solidFill>
                  <a:srgbClr val="6B655E"/>
                </a:solidFill>
                <a:latin typeface="Calibri"/>
              </a:defRPr>
            </a:pPr>
            <a:r>
              <a:t>Real example: 130 East 18th Street — 287 units, Gramercy Park</a:t>
            </a:r>
          </a:p>
        </p:txBody>
      </p:sp>
      <p:sp>
        <p:nvSpPr>
          <p:cNvPr id="5" name="Rectangle 4"/>
          <p:cNvSpPr/>
          <p:nvPr/>
        </p:nvSpPr>
        <p:spPr>
          <a:xfrm>
            <a:off x="731520" y="2103120"/>
            <a:ext cx="5029200" cy="22860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103120"/>
            <a:ext cx="5029200" cy="508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377440"/>
            <a:ext cx="5029200" cy="822960"/>
          </a:xfrm>
          <a:prstGeom prst="rect">
            <a:avLst/>
          </a:prstGeom>
          <a:noFill/>
        </p:spPr>
        <p:txBody>
          <a:bodyPr wrap="square"/>
          <a:lstStyle/>
          <a:p>
            <a:pPr algn="ctr">
              <a:spcBef>
                <a:spcPts val="0"/>
              </a:spcBef>
              <a:spcAft>
                <a:spcPts val="0"/>
              </a:spcAft>
              <a:defRPr sz="5400" b="1">
                <a:solidFill>
                  <a:srgbClr val="1A7A4A"/>
                </a:solidFill>
                <a:latin typeface="Georgia"/>
              </a:defRPr>
            </a:pPr>
            <a:r>
              <a:t>$49,371</a:t>
            </a:r>
          </a:p>
        </p:txBody>
      </p:sp>
      <p:sp>
        <p:nvSpPr>
          <p:cNvPr id="8" name="TextBox 7"/>
          <p:cNvSpPr txBox="1"/>
          <p:nvPr/>
        </p:nvSpPr>
        <p:spPr>
          <a:xfrm>
            <a:off x="731520" y="3200400"/>
            <a:ext cx="5029200" cy="365760"/>
          </a:xfrm>
          <a:prstGeom prst="rect">
            <a:avLst/>
          </a:prstGeom>
          <a:noFill/>
        </p:spPr>
        <p:txBody>
          <a:bodyPr wrap="square"/>
          <a:lstStyle/>
          <a:p>
            <a:pPr algn="ctr">
              <a:spcBef>
                <a:spcPts val="0"/>
              </a:spcBef>
              <a:spcAft>
                <a:spcPts val="0"/>
              </a:spcAft>
              <a:defRPr sz="1600" b="1">
                <a:solidFill>
                  <a:srgbClr val="2C2825"/>
                </a:solidFill>
                <a:latin typeface="Calibri"/>
              </a:defRPr>
            </a:pPr>
            <a:r>
              <a:t>Estimated Annual Savings</a:t>
            </a:r>
          </a:p>
        </p:txBody>
      </p:sp>
      <p:sp>
        <p:nvSpPr>
          <p:cNvPr id="9" name="TextBox 8"/>
          <p:cNvSpPr txBox="1"/>
          <p:nvPr/>
        </p:nvSpPr>
        <p:spPr>
          <a:xfrm>
            <a:off x="731520" y="3611880"/>
            <a:ext cx="5029200" cy="320040"/>
          </a:xfrm>
          <a:prstGeom prst="rect">
            <a:avLst/>
          </a:prstGeom>
          <a:noFill/>
        </p:spPr>
        <p:txBody>
          <a:bodyPr wrap="square"/>
          <a:lstStyle/>
          <a:p>
            <a:pPr algn="ctr">
              <a:spcBef>
                <a:spcPts val="0"/>
              </a:spcBef>
              <a:spcAft>
                <a:spcPts val="0"/>
              </a:spcAft>
              <a:defRPr sz="1100" b="0">
                <a:solidFill>
                  <a:srgbClr val="6B655E"/>
                </a:solidFill>
                <a:latin typeface="Calibri"/>
              </a:defRPr>
            </a:pPr>
            <a:r>
              <a:t>Identified through BoardIQ benchmarking analysis</a:t>
            </a:r>
          </a:p>
        </p:txBody>
      </p:sp>
      <p:sp>
        <p:nvSpPr>
          <p:cNvPr id="10" name="Rectangle 9"/>
          <p:cNvSpPr/>
          <p:nvPr/>
        </p:nvSpPr>
        <p:spPr>
          <a:xfrm>
            <a:off x="6217920" y="2103120"/>
            <a:ext cx="5212080" cy="41148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167128"/>
            <a:ext cx="1188720" cy="320040"/>
          </a:xfrm>
          <a:prstGeom prst="rect">
            <a:avLst/>
          </a:prstGeom>
          <a:noFill/>
        </p:spPr>
        <p:txBody>
          <a:bodyPr wrap="square"/>
          <a:lstStyle/>
          <a:p>
            <a:pPr algn="l">
              <a:spcBef>
                <a:spcPts val="0"/>
              </a:spcBef>
              <a:spcAft>
                <a:spcPts val="0"/>
              </a:spcAft>
              <a:defRPr sz="900" b="1">
                <a:solidFill>
                  <a:srgbClr val="FFFFFF"/>
                </a:solidFill>
                <a:latin typeface="Calibri"/>
              </a:defRPr>
            </a:pPr>
            <a:r>
              <a:t>Service</a:t>
            </a:r>
          </a:p>
        </p:txBody>
      </p:sp>
      <p:sp>
        <p:nvSpPr>
          <p:cNvPr id="12" name="TextBox 11"/>
          <p:cNvSpPr txBox="1"/>
          <p:nvPr/>
        </p:nvSpPr>
        <p:spPr>
          <a:xfrm>
            <a:off x="7543800" y="2167128"/>
            <a:ext cx="1097280" cy="320040"/>
          </a:xfrm>
          <a:prstGeom prst="rect">
            <a:avLst/>
          </a:prstGeom>
          <a:noFill/>
        </p:spPr>
        <p:txBody>
          <a:bodyPr wrap="square"/>
          <a:lstStyle/>
          <a:p>
            <a:pPr algn="l">
              <a:spcBef>
                <a:spcPts val="0"/>
              </a:spcBef>
              <a:spcAft>
                <a:spcPts val="0"/>
              </a:spcAft>
              <a:defRPr sz="900" b="1">
                <a:solidFill>
                  <a:srgbClr val="FFFFFF"/>
                </a:solidFill>
                <a:latin typeface="Calibri"/>
              </a:defRPr>
            </a:pPr>
            <a:r>
              <a:t>Current</a:t>
            </a:r>
          </a:p>
        </p:txBody>
      </p:sp>
      <p:sp>
        <p:nvSpPr>
          <p:cNvPr id="13" name="TextBox 12"/>
          <p:cNvSpPr txBox="1"/>
          <p:nvPr/>
        </p:nvSpPr>
        <p:spPr>
          <a:xfrm>
            <a:off x="8732520" y="2167128"/>
            <a:ext cx="1280160" cy="320040"/>
          </a:xfrm>
          <a:prstGeom prst="rect">
            <a:avLst/>
          </a:prstGeom>
          <a:noFill/>
        </p:spPr>
        <p:txBody>
          <a:bodyPr wrap="square"/>
          <a:lstStyle/>
          <a:p>
            <a:pPr algn="l">
              <a:spcBef>
                <a:spcPts val="0"/>
              </a:spcBef>
              <a:spcAft>
                <a:spcPts val="0"/>
              </a:spcAft>
              <a:defRPr sz="900" b="1">
                <a:solidFill>
                  <a:srgbClr val="FFFFFF"/>
                </a:solidFill>
                <a:latin typeface="Calibri"/>
              </a:defRPr>
            </a:pPr>
            <a:r>
              <a:t>Market Rate</a:t>
            </a:r>
          </a:p>
        </p:txBody>
      </p:sp>
      <p:sp>
        <p:nvSpPr>
          <p:cNvPr id="14" name="TextBox 13"/>
          <p:cNvSpPr txBox="1"/>
          <p:nvPr/>
        </p:nvSpPr>
        <p:spPr>
          <a:xfrm>
            <a:off x="10104120" y="2167128"/>
            <a:ext cx="1280160" cy="320040"/>
          </a:xfrm>
          <a:prstGeom prst="rect">
            <a:avLst/>
          </a:prstGeom>
          <a:noFill/>
        </p:spPr>
        <p:txBody>
          <a:bodyPr wrap="square"/>
          <a:lstStyle/>
          <a:p>
            <a:pPr algn="l">
              <a:spcBef>
                <a:spcPts val="0"/>
              </a:spcBef>
              <a:spcAft>
                <a:spcPts val="0"/>
              </a:spcAft>
              <a:defRPr sz="900" b="1">
                <a:solidFill>
                  <a:srgbClr val="FFFFFF"/>
                </a:solidFill>
                <a:latin typeface="Calibri"/>
              </a:defRPr>
            </a:pPr>
            <a:r>
              <a:t>Savings</a:t>
            </a:r>
          </a:p>
        </p:txBody>
      </p:sp>
      <p:sp>
        <p:nvSpPr>
          <p:cNvPr id="15" name="Rectangle 14"/>
          <p:cNvSpPr/>
          <p:nvPr/>
        </p:nvSpPr>
        <p:spPr>
          <a:xfrm>
            <a:off x="6217920" y="2514600"/>
            <a:ext cx="5212080" cy="59436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560320"/>
            <a:ext cx="1188720" cy="228600"/>
          </a:xfrm>
          <a:prstGeom prst="rect">
            <a:avLst/>
          </a:prstGeom>
          <a:noFill/>
        </p:spPr>
        <p:txBody>
          <a:bodyPr wrap="square"/>
          <a:lstStyle/>
          <a:p>
            <a:pPr algn="l">
              <a:spcBef>
                <a:spcPts val="0"/>
              </a:spcBef>
              <a:spcAft>
                <a:spcPts val="0"/>
              </a:spcAft>
              <a:defRPr sz="1000" b="0">
                <a:solidFill>
                  <a:srgbClr val="2C2825"/>
                </a:solidFill>
                <a:latin typeface="Calibri"/>
              </a:defRPr>
            </a:pPr>
            <a:r>
              <a:t>Plumbing</a:t>
            </a:r>
          </a:p>
        </p:txBody>
      </p:sp>
      <p:sp>
        <p:nvSpPr>
          <p:cNvPr id="17" name="TextBox 16"/>
          <p:cNvSpPr txBox="1"/>
          <p:nvPr/>
        </p:nvSpPr>
        <p:spPr>
          <a:xfrm>
            <a:off x="7543800" y="2560320"/>
            <a:ext cx="1097280" cy="228600"/>
          </a:xfrm>
          <a:prstGeom prst="rect">
            <a:avLst/>
          </a:prstGeom>
          <a:noFill/>
        </p:spPr>
        <p:txBody>
          <a:bodyPr wrap="square"/>
          <a:lstStyle/>
          <a:p>
            <a:pPr algn="l">
              <a:spcBef>
                <a:spcPts val="0"/>
              </a:spcBef>
              <a:spcAft>
                <a:spcPts val="0"/>
              </a:spcAft>
              <a:defRPr sz="1000" b="0">
                <a:solidFill>
                  <a:srgbClr val="2C2825"/>
                </a:solidFill>
                <a:latin typeface="Calibri"/>
              </a:defRPr>
            </a:pPr>
            <a:r>
              <a:t>$104,953</a:t>
            </a:r>
          </a:p>
        </p:txBody>
      </p:sp>
      <p:sp>
        <p:nvSpPr>
          <p:cNvPr id="18" name="TextBox 17"/>
          <p:cNvSpPr txBox="1"/>
          <p:nvPr/>
        </p:nvSpPr>
        <p:spPr>
          <a:xfrm>
            <a:off x="8732520" y="2560320"/>
            <a:ext cx="1280160" cy="228600"/>
          </a:xfrm>
          <a:prstGeom prst="rect">
            <a:avLst/>
          </a:prstGeom>
          <a:noFill/>
        </p:spPr>
        <p:txBody>
          <a:bodyPr wrap="square"/>
          <a:lstStyle/>
          <a:p>
            <a:pPr algn="l">
              <a:spcBef>
                <a:spcPts val="0"/>
              </a:spcBef>
              <a:spcAft>
                <a:spcPts val="0"/>
              </a:spcAft>
              <a:defRPr sz="1000" b="0">
                <a:solidFill>
                  <a:srgbClr val="2C2825"/>
                </a:solidFill>
                <a:latin typeface="Calibri"/>
              </a:defRPr>
            </a:pPr>
            <a:r>
              <a:t>$55,678</a:t>
            </a:r>
          </a:p>
        </p:txBody>
      </p:sp>
      <p:sp>
        <p:nvSpPr>
          <p:cNvPr id="19" name="TextBox 18"/>
          <p:cNvSpPr txBox="1"/>
          <p:nvPr/>
        </p:nvSpPr>
        <p:spPr>
          <a:xfrm>
            <a:off x="10104120" y="2560320"/>
            <a:ext cx="1280160" cy="228600"/>
          </a:xfrm>
          <a:prstGeom prst="rect">
            <a:avLst/>
          </a:prstGeom>
          <a:noFill/>
        </p:spPr>
        <p:txBody>
          <a:bodyPr wrap="square"/>
          <a:lstStyle/>
          <a:p>
            <a:pPr algn="l">
              <a:spcBef>
                <a:spcPts val="0"/>
              </a:spcBef>
              <a:spcAft>
                <a:spcPts val="0"/>
              </a:spcAft>
              <a:defRPr sz="1000" b="1">
                <a:solidFill>
                  <a:srgbClr val="1A7A4A"/>
                </a:solidFill>
                <a:latin typeface="Calibri"/>
              </a:defRPr>
            </a:pPr>
            <a:r>
              <a:t>$49,275</a:t>
            </a:r>
          </a:p>
        </p:txBody>
      </p:sp>
      <p:sp>
        <p:nvSpPr>
          <p:cNvPr id="20" name="TextBox 19"/>
          <p:cNvSpPr txBox="1"/>
          <p:nvPr/>
        </p:nvSpPr>
        <p:spPr>
          <a:xfrm>
            <a:off x="6263640" y="2807208"/>
            <a:ext cx="5120640" cy="228600"/>
          </a:xfrm>
          <a:prstGeom prst="rect">
            <a:avLst/>
          </a:prstGeom>
          <a:noFill/>
        </p:spPr>
        <p:txBody>
          <a:bodyPr wrap="square"/>
          <a:lstStyle/>
          <a:p>
            <a:pPr algn="l">
              <a:spcBef>
                <a:spcPts val="0"/>
              </a:spcBef>
              <a:spcAft>
                <a:spcPts val="0"/>
              </a:spcAft>
              <a:defRPr sz="800" b="0">
                <a:solidFill>
                  <a:srgbClr val="6B655E"/>
                </a:solidFill>
                <a:latin typeface="Calibri"/>
              </a:defRPr>
            </a:pPr>
            <a:r>
              <a:t>Rebid recommended — 89% above median</a:t>
            </a:r>
          </a:p>
        </p:txBody>
      </p:sp>
      <p:sp>
        <p:nvSpPr>
          <p:cNvPr id="21" name="Rectangle 20"/>
          <p:cNvSpPr/>
          <p:nvPr/>
        </p:nvSpPr>
        <p:spPr>
          <a:xfrm>
            <a:off x="6217920" y="3108960"/>
            <a:ext cx="5212080" cy="59436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3154680"/>
            <a:ext cx="1188720" cy="228600"/>
          </a:xfrm>
          <a:prstGeom prst="rect">
            <a:avLst/>
          </a:prstGeom>
          <a:noFill/>
        </p:spPr>
        <p:txBody>
          <a:bodyPr wrap="square"/>
          <a:lstStyle/>
          <a:p>
            <a:pPr algn="l">
              <a:spcBef>
                <a:spcPts val="0"/>
              </a:spcBef>
              <a:spcAft>
                <a:spcPts val="0"/>
              </a:spcAft>
              <a:defRPr sz="1000" b="0">
                <a:solidFill>
                  <a:srgbClr val="2C2825"/>
                </a:solidFill>
                <a:latin typeface="Calibri"/>
              </a:defRPr>
            </a:pPr>
            <a:r>
              <a:t>HVAC</a:t>
            </a:r>
          </a:p>
        </p:txBody>
      </p:sp>
      <p:sp>
        <p:nvSpPr>
          <p:cNvPr id="23" name="TextBox 22"/>
          <p:cNvSpPr txBox="1"/>
          <p:nvPr/>
        </p:nvSpPr>
        <p:spPr>
          <a:xfrm>
            <a:off x="7543800" y="3154680"/>
            <a:ext cx="1097280" cy="228600"/>
          </a:xfrm>
          <a:prstGeom prst="rect">
            <a:avLst/>
          </a:prstGeom>
          <a:noFill/>
        </p:spPr>
        <p:txBody>
          <a:bodyPr wrap="square"/>
          <a:lstStyle/>
          <a:p>
            <a:pPr algn="l">
              <a:spcBef>
                <a:spcPts val="0"/>
              </a:spcBef>
              <a:spcAft>
                <a:spcPts val="0"/>
              </a:spcAft>
              <a:defRPr sz="1000" b="0">
                <a:solidFill>
                  <a:srgbClr val="2C2825"/>
                </a:solidFill>
                <a:latin typeface="Calibri"/>
              </a:defRPr>
            </a:pPr>
            <a:r>
              <a:t>$44,156</a:t>
            </a:r>
          </a:p>
        </p:txBody>
      </p:sp>
      <p:sp>
        <p:nvSpPr>
          <p:cNvPr id="24" name="TextBox 23"/>
          <p:cNvSpPr txBox="1"/>
          <p:nvPr/>
        </p:nvSpPr>
        <p:spPr>
          <a:xfrm>
            <a:off x="8732520" y="3154680"/>
            <a:ext cx="1280160" cy="228600"/>
          </a:xfrm>
          <a:prstGeom prst="rect">
            <a:avLst/>
          </a:prstGeom>
          <a:noFill/>
        </p:spPr>
        <p:txBody>
          <a:bodyPr wrap="square"/>
          <a:lstStyle/>
          <a:p>
            <a:pPr algn="l">
              <a:spcBef>
                <a:spcPts val="0"/>
              </a:spcBef>
              <a:spcAft>
                <a:spcPts val="0"/>
              </a:spcAft>
              <a:defRPr sz="1000" b="0">
                <a:solidFill>
                  <a:srgbClr val="2C2825"/>
                </a:solidFill>
                <a:latin typeface="Calibri"/>
              </a:defRPr>
            </a:pPr>
            <a:r>
              <a:t>$36,736</a:t>
            </a:r>
          </a:p>
        </p:txBody>
      </p:sp>
      <p:sp>
        <p:nvSpPr>
          <p:cNvPr id="25" name="TextBox 24"/>
          <p:cNvSpPr txBox="1"/>
          <p:nvPr/>
        </p:nvSpPr>
        <p:spPr>
          <a:xfrm>
            <a:off x="10104120" y="3154680"/>
            <a:ext cx="1280160" cy="228600"/>
          </a:xfrm>
          <a:prstGeom prst="rect">
            <a:avLst/>
          </a:prstGeom>
          <a:noFill/>
        </p:spPr>
        <p:txBody>
          <a:bodyPr wrap="square"/>
          <a:lstStyle/>
          <a:p>
            <a:pPr algn="l">
              <a:spcBef>
                <a:spcPts val="0"/>
              </a:spcBef>
              <a:spcAft>
                <a:spcPts val="0"/>
              </a:spcAft>
              <a:defRPr sz="1000" b="1">
                <a:solidFill>
                  <a:srgbClr val="1A7A4A"/>
                </a:solidFill>
                <a:latin typeface="Calibri"/>
              </a:defRPr>
            </a:pPr>
            <a:r>
              <a:t>$7,420</a:t>
            </a:r>
          </a:p>
        </p:txBody>
      </p:sp>
      <p:sp>
        <p:nvSpPr>
          <p:cNvPr id="26" name="TextBox 25"/>
          <p:cNvSpPr txBox="1"/>
          <p:nvPr/>
        </p:nvSpPr>
        <p:spPr>
          <a:xfrm>
            <a:off x="6263640" y="3401568"/>
            <a:ext cx="5120640" cy="228600"/>
          </a:xfrm>
          <a:prstGeom prst="rect">
            <a:avLst/>
          </a:prstGeom>
          <a:noFill/>
        </p:spPr>
        <p:txBody>
          <a:bodyPr wrap="square"/>
          <a:lstStyle/>
          <a:p>
            <a:pPr algn="l">
              <a:spcBef>
                <a:spcPts val="0"/>
              </a:spcBef>
              <a:spcAft>
                <a:spcPts val="0"/>
              </a:spcAft>
              <a:defRPr sz="800" b="0">
                <a:solidFill>
                  <a:srgbClr val="6B655E"/>
                </a:solidFill>
                <a:latin typeface="Calibri"/>
              </a:defRPr>
            </a:pPr>
            <a:r>
              <a:t>Contract review at renewal</a:t>
            </a:r>
          </a:p>
        </p:txBody>
      </p:sp>
      <p:sp>
        <p:nvSpPr>
          <p:cNvPr id="27" name="Rectangle 26"/>
          <p:cNvSpPr/>
          <p:nvPr/>
        </p:nvSpPr>
        <p:spPr>
          <a:xfrm>
            <a:off x="6217920" y="3703320"/>
            <a:ext cx="5212080" cy="59436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3749040"/>
            <a:ext cx="1188720" cy="228600"/>
          </a:xfrm>
          <a:prstGeom prst="rect">
            <a:avLst/>
          </a:prstGeom>
          <a:noFill/>
        </p:spPr>
        <p:txBody>
          <a:bodyPr wrap="square"/>
          <a:lstStyle/>
          <a:p>
            <a:pPr algn="l">
              <a:spcBef>
                <a:spcPts val="0"/>
              </a:spcBef>
              <a:spcAft>
                <a:spcPts val="0"/>
              </a:spcAft>
              <a:defRPr sz="1000" b="0">
                <a:solidFill>
                  <a:srgbClr val="2C2825"/>
                </a:solidFill>
                <a:latin typeface="Calibri"/>
              </a:defRPr>
            </a:pPr>
            <a:r>
              <a:t>Pest Control</a:t>
            </a:r>
          </a:p>
        </p:txBody>
      </p:sp>
      <p:sp>
        <p:nvSpPr>
          <p:cNvPr id="29" name="TextBox 28"/>
          <p:cNvSpPr txBox="1"/>
          <p:nvPr/>
        </p:nvSpPr>
        <p:spPr>
          <a:xfrm>
            <a:off x="7543800" y="3749040"/>
            <a:ext cx="1097280" cy="228600"/>
          </a:xfrm>
          <a:prstGeom prst="rect">
            <a:avLst/>
          </a:prstGeom>
          <a:noFill/>
        </p:spPr>
        <p:txBody>
          <a:bodyPr wrap="square"/>
          <a:lstStyle/>
          <a:p>
            <a:pPr algn="l">
              <a:spcBef>
                <a:spcPts val="0"/>
              </a:spcBef>
              <a:spcAft>
                <a:spcPts val="0"/>
              </a:spcAft>
              <a:defRPr sz="1000" b="0">
                <a:solidFill>
                  <a:srgbClr val="2C2825"/>
                </a:solidFill>
                <a:latin typeface="Calibri"/>
              </a:defRPr>
            </a:pPr>
            <a:r>
              <a:t>$29,749</a:t>
            </a:r>
          </a:p>
        </p:txBody>
      </p:sp>
      <p:sp>
        <p:nvSpPr>
          <p:cNvPr id="30" name="TextBox 29"/>
          <p:cNvSpPr txBox="1"/>
          <p:nvPr/>
        </p:nvSpPr>
        <p:spPr>
          <a:xfrm>
            <a:off x="8732520" y="3749040"/>
            <a:ext cx="1280160" cy="228600"/>
          </a:xfrm>
          <a:prstGeom prst="rect">
            <a:avLst/>
          </a:prstGeom>
          <a:noFill/>
        </p:spPr>
        <p:txBody>
          <a:bodyPr wrap="square"/>
          <a:lstStyle/>
          <a:p>
            <a:pPr algn="l">
              <a:spcBef>
                <a:spcPts val="0"/>
              </a:spcBef>
              <a:spcAft>
                <a:spcPts val="0"/>
              </a:spcAft>
              <a:defRPr sz="1000" b="0">
                <a:solidFill>
                  <a:srgbClr val="2C2825"/>
                </a:solidFill>
                <a:latin typeface="Calibri"/>
              </a:defRPr>
            </a:pPr>
            <a:r>
              <a:t>$24,395</a:t>
            </a:r>
          </a:p>
        </p:txBody>
      </p:sp>
      <p:sp>
        <p:nvSpPr>
          <p:cNvPr id="31" name="TextBox 30"/>
          <p:cNvSpPr txBox="1"/>
          <p:nvPr/>
        </p:nvSpPr>
        <p:spPr>
          <a:xfrm>
            <a:off x="10104120" y="3749040"/>
            <a:ext cx="1280160" cy="228600"/>
          </a:xfrm>
          <a:prstGeom prst="rect">
            <a:avLst/>
          </a:prstGeom>
          <a:noFill/>
        </p:spPr>
        <p:txBody>
          <a:bodyPr wrap="square"/>
          <a:lstStyle/>
          <a:p>
            <a:pPr algn="l">
              <a:spcBef>
                <a:spcPts val="0"/>
              </a:spcBef>
              <a:spcAft>
                <a:spcPts val="0"/>
              </a:spcAft>
              <a:defRPr sz="1000" b="1">
                <a:solidFill>
                  <a:srgbClr val="1A7A4A"/>
                </a:solidFill>
                <a:latin typeface="Calibri"/>
              </a:defRPr>
            </a:pPr>
            <a:r>
              <a:t>$5,354</a:t>
            </a:r>
          </a:p>
        </p:txBody>
      </p:sp>
      <p:sp>
        <p:nvSpPr>
          <p:cNvPr id="32" name="TextBox 31"/>
          <p:cNvSpPr txBox="1"/>
          <p:nvPr/>
        </p:nvSpPr>
        <p:spPr>
          <a:xfrm>
            <a:off x="6263640" y="3995928"/>
            <a:ext cx="5120640" cy="228600"/>
          </a:xfrm>
          <a:prstGeom prst="rect">
            <a:avLst/>
          </a:prstGeom>
          <a:noFill/>
        </p:spPr>
        <p:txBody>
          <a:bodyPr wrap="square"/>
          <a:lstStyle/>
          <a:p>
            <a:pPr algn="l">
              <a:spcBef>
                <a:spcPts val="0"/>
              </a:spcBef>
              <a:spcAft>
                <a:spcPts val="0"/>
              </a:spcAft>
              <a:defRPr sz="800" b="0">
                <a:solidFill>
                  <a:srgbClr val="6B655E"/>
                </a:solidFill>
                <a:latin typeface="Calibri"/>
              </a:defRPr>
            </a:pPr>
            <a:r>
              <a:t>Market-rate available via BidBoard</a:t>
            </a:r>
          </a:p>
        </p:txBody>
      </p:sp>
      <p:sp>
        <p:nvSpPr>
          <p:cNvPr id="33" name="Rectangle 32"/>
          <p:cNvSpPr/>
          <p:nvPr/>
        </p:nvSpPr>
        <p:spPr>
          <a:xfrm>
            <a:off x="731520" y="4846320"/>
            <a:ext cx="10698480" cy="146304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1520" y="4846320"/>
            <a:ext cx="10698480" cy="508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074920"/>
            <a:ext cx="2377440" cy="457200"/>
          </a:xfrm>
          <a:prstGeom prst="rect">
            <a:avLst/>
          </a:prstGeom>
          <a:noFill/>
        </p:spPr>
        <p:txBody>
          <a:bodyPr wrap="square"/>
          <a:lstStyle/>
          <a:p>
            <a:pPr algn="ctr">
              <a:spcBef>
                <a:spcPts val="0"/>
              </a:spcBef>
              <a:spcAft>
                <a:spcPts val="0"/>
              </a:spcAft>
              <a:defRPr sz="2600" b="1">
                <a:solidFill>
                  <a:srgbClr val="C4893A"/>
                </a:solidFill>
                <a:latin typeface="Georgia"/>
              </a:defRPr>
            </a:pPr>
            <a:r>
              <a:t>$49/mo</a:t>
            </a:r>
          </a:p>
        </p:txBody>
      </p:sp>
      <p:sp>
        <p:nvSpPr>
          <p:cNvPr id="36" name="TextBox 35"/>
          <p:cNvSpPr txBox="1"/>
          <p:nvPr/>
        </p:nvSpPr>
        <p:spPr>
          <a:xfrm>
            <a:off x="914400" y="5577840"/>
            <a:ext cx="2377440" cy="502920"/>
          </a:xfrm>
          <a:prstGeom prst="rect">
            <a:avLst/>
          </a:prstGeom>
          <a:noFill/>
        </p:spPr>
        <p:txBody>
          <a:bodyPr wrap="square"/>
          <a:lstStyle/>
          <a:p>
            <a:pPr algn="ctr">
              <a:spcBef>
                <a:spcPts val="0"/>
              </a:spcBef>
              <a:spcAft>
                <a:spcPts val="0"/>
              </a:spcAft>
              <a:defRPr sz="1000" b="0">
                <a:solidFill>
                  <a:srgbClr val="8C857B"/>
                </a:solidFill>
                <a:latin typeface="Calibri"/>
              </a:defRPr>
            </a:pPr>
            <a:r>
              <a:t>BoardIQ</a:t>
            </a:r>
            <a:br/>
            <a:r>
              <a:t>Subscription</a:t>
            </a:r>
          </a:p>
        </p:txBody>
      </p:sp>
      <p:sp>
        <p:nvSpPr>
          <p:cNvPr id="37" name="TextBox 36"/>
          <p:cNvSpPr txBox="1"/>
          <p:nvPr/>
        </p:nvSpPr>
        <p:spPr>
          <a:xfrm>
            <a:off x="3566160" y="5074920"/>
            <a:ext cx="2377440" cy="457200"/>
          </a:xfrm>
          <a:prstGeom prst="rect">
            <a:avLst/>
          </a:prstGeom>
          <a:noFill/>
        </p:spPr>
        <p:txBody>
          <a:bodyPr wrap="square"/>
          <a:lstStyle/>
          <a:p>
            <a:pPr algn="ctr">
              <a:spcBef>
                <a:spcPts val="0"/>
              </a:spcBef>
              <a:spcAft>
                <a:spcPts val="0"/>
              </a:spcAft>
              <a:defRPr sz="2600" b="1">
                <a:solidFill>
                  <a:srgbClr val="C4893A"/>
                </a:solidFill>
                <a:latin typeface="Georgia"/>
              </a:defRPr>
            </a:pPr>
            <a:r>
              <a:t>$49,371/yr</a:t>
            </a:r>
          </a:p>
        </p:txBody>
      </p:sp>
      <p:sp>
        <p:nvSpPr>
          <p:cNvPr id="38" name="TextBox 37"/>
          <p:cNvSpPr txBox="1"/>
          <p:nvPr/>
        </p:nvSpPr>
        <p:spPr>
          <a:xfrm>
            <a:off x="3566160" y="5577840"/>
            <a:ext cx="2377440" cy="502920"/>
          </a:xfrm>
          <a:prstGeom prst="rect">
            <a:avLst/>
          </a:prstGeom>
          <a:noFill/>
        </p:spPr>
        <p:txBody>
          <a:bodyPr wrap="square"/>
          <a:lstStyle/>
          <a:p>
            <a:pPr algn="ctr">
              <a:spcBef>
                <a:spcPts val="0"/>
              </a:spcBef>
              <a:spcAft>
                <a:spcPts val="0"/>
              </a:spcAft>
              <a:defRPr sz="1000" b="0">
                <a:solidFill>
                  <a:srgbClr val="8C857B"/>
                </a:solidFill>
                <a:latin typeface="Calibri"/>
              </a:defRPr>
            </a:pPr>
            <a:r>
              <a:t>Identified</a:t>
            </a:r>
            <a:br/>
            <a:r>
              <a:t>Savings</a:t>
            </a:r>
          </a:p>
        </p:txBody>
      </p:sp>
      <p:sp>
        <p:nvSpPr>
          <p:cNvPr id="39" name="TextBox 38"/>
          <p:cNvSpPr txBox="1"/>
          <p:nvPr/>
        </p:nvSpPr>
        <p:spPr>
          <a:xfrm>
            <a:off x="6217920" y="5074920"/>
            <a:ext cx="2377440" cy="457200"/>
          </a:xfrm>
          <a:prstGeom prst="rect">
            <a:avLst/>
          </a:prstGeom>
          <a:noFill/>
        </p:spPr>
        <p:txBody>
          <a:bodyPr wrap="square"/>
          <a:lstStyle/>
          <a:p>
            <a:pPr algn="ctr">
              <a:spcBef>
                <a:spcPts val="0"/>
              </a:spcBef>
              <a:spcAft>
                <a:spcPts val="0"/>
              </a:spcAft>
              <a:defRPr sz="2600" b="1">
                <a:solidFill>
                  <a:srgbClr val="C4893A"/>
                </a:solidFill>
                <a:latin typeface="Georgia"/>
              </a:defRPr>
            </a:pPr>
            <a:r>
              <a:t>84x</a:t>
            </a:r>
          </a:p>
        </p:txBody>
      </p:sp>
      <p:sp>
        <p:nvSpPr>
          <p:cNvPr id="40" name="TextBox 39"/>
          <p:cNvSpPr txBox="1"/>
          <p:nvPr/>
        </p:nvSpPr>
        <p:spPr>
          <a:xfrm>
            <a:off x="6217920" y="5577840"/>
            <a:ext cx="2377440" cy="502920"/>
          </a:xfrm>
          <a:prstGeom prst="rect">
            <a:avLst/>
          </a:prstGeom>
          <a:noFill/>
        </p:spPr>
        <p:txBody>
          <a:bodyPr wrap="square"/>
          <a:lstStyle/>
          <a:p>
            <a:pPr algn="ctr">
              <a:spcBef>
                <a:spcPts val="0"/>
              </a:spcBef>
              <a:spcAft>
                <a:spcPts val="0"/>
              </a:spcAft>
              <a:defRPr sz="1000" b="0">
                <a:solidFill>
                  <a:srgbClr val="8C857B"/>
                </a:solidFill>
                <a:latin typeface="Calibri"/>
              </a:defRPr>
            </a:pPr>
            <a:r>
              <a:t>Return on</a:t>
            </a:r>
            <a:br/>
            <a:r>
              <a:t>Investment</a:t>
            </a:r>
          </a:p>
        </p:txBody>
      </p:sp>
      <p:sp>
        <p:nvSpPr>
          <p:cNvPr id="41" name="TextBox 40"/>
          <p:cNvSpPr txBox="1"/>
          <p:nvPr/>
        </p:nvSpPr>
        <p:spPr>
          <a:xfrm>
            <a:off x="8869679" y="5074920"/>
            <a:ext cx="2377440" cy="457200"/>
          </a:xfrm>
          <a:prstGeom prst="rect">
            <a:avLst/>
          </a:prstGeom>
          <a:noFill/>
        </p:spPr>
        <p:txBody>
          <a:bodyPr wrap="square"/>
          <a:lstStyle/>
          <a:p>
            <a:pPr algn="ctr">
              <a:spcBef>
                <a:spcPts val="0"/>
              </a:spcBef>
              <a:spcAft>
                <a:spcPts val="0"/>
              </a:spcAft>
              <a:defRPr sz="2600" b="1">
                <a:solidFill>
                  <a:srgbClr val="C4893A"/>
                </a:solidFill>
                <a:latin typeface="Georgia"/>
              </a:defRPr>
            </a:pPr>
            <a:r>
              <a:t>$172/unit</a:t>
            </a:r>
          </a:p>
        </p:txBody>
      </p:sp>
      <p:sp>
        <p:nvSpPr>
          <p:cNvPr id="42" name="TextBox 41"/>
          <p:cNvSpPr txBox="1"/>
          <p:nvPr/>
        </p:nvSpPr>
        <p:spPr>
          <a:xfrm>
            <a:off x="8869679" y="5577840"/>
            <a:ext cx="2377440" cy="502920"/>
          </a:xfrm>
          <a:prstGeom prst="rect">
            <a:avLst/>
          </a:prstGeom>
          <a:noFill/>
        </p:spPr>
        <p:txBody>
          <a:bodyPr wrap="square"/>
          <a:lstStyle/>
          <a:p>
            <a:pPr algn="ctr">
              <a:spcBef>
                <a:spcPts val="0"/>
              </a:spcBef>
              <a:spcAft>
                <a:spcPts val="0"/>
              </a:spcAft>
              <a:defRPr sz="1000" b="0">
                <a:solidFill>
                  <a:srgbClr val="8C857B"/>
                </a:solidFill>
                <a:latin typeface="Calibri"/>
              </a:defRPr>
            </a:pPr>
            <a:r>
              <a:t>Savings Per</a:t>
            </a:r>
            <a:br/>
            <a:r>
              <a:t>Unit Per Year</a:t>
            </a:r>
          </a:p>
        </p:txBody>
      </p:sp>
      <p:sp>
        <p:nvSpPr>
          <p:cNvPr id="43" name="TextBox 42"/>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OUR NETWORK</a:t>
            </a:r>
          </a:p>
        </p:txBody>
      </p:sp>
      <p:sp>
        <p:nvSpPr>
          <p:cNvPr id="3" name="TextBox 2"/>
          <p:cNvSpPr txBox="1"/>
          <p:nvPr/>
        </p:nvSpPr>
        <p:spPr>
          <a:xfrm>
            <a:off x="731520" y="822960"/>
            <a:ext cx="9144000" cy="640080"/>
          </a:xfrm>
          <a:prstGeom prst="rect">
            <a:avLst/>
          </a:prstGeom>
          <a:noFill/>
        </p:spPr>
        <p:txBody>
          <a:bodyPr wrap="square"/>
          <a:lstStyle/>
          <a:p>
            <a:pPr algn="l">
              <a:spcBef>
                <a:spcPts val="0"/>
              </a:spcBef>
              <a:spcAft>
                <a:spcPts val="0"/>
              </a:spcAft>
              <a:defRPr sz="3600" b="1">
                <a:solidFill>
                  <a:srgbClr val="2C2825"/>
                </a:solidFill>
                <a:latin typeface="Georgia"/>
              </a:defRPr>
            </a:pPr>
            <a:r>
              <a:t>Pre-Vetted Vendor Network</a:t>
            </a:r>
          </a:p>
        </p:txBody>
      </p:sp>
      <p:sp>
        <p:nvSpPr>
          <p:cNvPr id="4" name="TextBox 3"/>
          <p:cNvSpPr txBox="1"/>
          <p:nvPr/>
        </p:nvSpPr>
        <p:spPr>
          <a:xfrm>
            <a:off x="731520" y="1554480"/>
            <a:ext cx="9144000" cy="457200"/>
          </a:xfrm>
          <a:prstGeom prst="rect">
            <a:avLst/>
          </a:prstGeom>
          <a:noFill/>
        </p:spPr>
        <p:txBody>
          <a:bodyPr wrap="square"/>
          <a:lstStyle/>
          <a:p>
            <a:pPr algn="l">
              <a:spcBef>
                <a:spcPts val="0"/>
              </a:spcBef>
              <a:spcAft>
                <a:spcPts val="0"/>
              </a:spcAft>
              <a:defRPr sz="1400" b="0">
                <a:solidFill>
                  <a:srgbClr val="6B655E"/>
                </a:solidFill>
                <a:latin typeface="Calibri"/>
              </a:defRPr>
            </a:pPr>
            <a:r>
              <a:t>Every vendor on BoardIQ is verified for insurance, licensing, and certifications before they can bid on your building's projects.</a:t>
            </a:r>
          </a:p>
        </p:txBody>
      </p:sp>
      <p:sp>
        <p:nvSpPr>
          <p:cNvPr id="5" name="Rectangle 4"/>
          <p:cNvSpPr/>
          <p:nvPr/>
        </p:nvSpPr>
        <p:spPr>
          <a:xfrm>
            <a:off x="731520" y="2286000"/>
            <a:ext cx="2468880" cy="13716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286000"/>
            <a:ext cx="2468880" cy="508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514600"/>
            <a:ext cx="2194560" cy="640080"/>
          </a:xfrm>
          <a:prstGeom prst="rect">
            <a:avLst/>
          </a:prstGeom>
          <a:noFill/>
        </p:spPr>
        <p:txBody>
          <a:bodyPr wrap="square"/>
          <a:lstStyle/>
          <a:p>
            <a:pPr algn="ctr">
              <a:spcBef>
                <a:spcPts val="0"/>
              </a:spcBef>
              <a:spcAft>
                <a:spcPts val="0"/>
              </a:spcAft>
              <a:defRPr sz="3600" b="1">
                <a:solidFill>
                  <a:srgbClr val="C4893A"/>
                </a:solidFill>
                <a:latin typeface="Georgia"/>
              </a:defRPr>
            </a:pPr>
            <a:r>
              <a:t>20+</a:t>
            </a:r>
          </a:p>
        </p:txBody>
      </p:sp>
      <p:sp>
        <p:nvSpPr>
          <p:cNvPr id="8" name="TextBox 7"/>
          <p:cNvSpPr txBox="1"/>
          <p:nvPr/>
        </p:nvSpPr>
        <p:spPr>
          <a:xfrm>
            <a:off x="822960" y="3154680"/>
            <a:ext cx="2286000" cy="548640"/>
          </a:xfrm>
          <a:prstGeom prst="rect">
            <a:avLst/>
          </a:prstGeom>
          <a:noFill/>
        </p:spPr>
        <p:txBody>
          <a:bodyPr wrap="square"/>
          <a:lstStyle/>
          <a:p>
            <a:pPr algn="ctr">
              <a:spcBef>
                <a:spcPts val="0"/>
              </a:spcBef>
              <a:spcAft>
                <a:spcPts val="0"/>
              </a:spcAft>
              <a:defRPr sz="1100" b="0">
                <a:solidFill>
                  <a:srgbClr val="6B655E"/>
                </a:solidFill>
                <a:latin typeface="Calibri"/>
              </a:defRPr>
            </a:pPr>
            <a:r>
              <a:t>Service</a:t>
            </a:r>
            <a:br/>
            <a:r>
              <a:t>Categories</a:t>
            </a:r>
          </a:p>
        </p:txBody>
      </p:sp>
      <p:sp>
        <p:nvSpPr>
          <p:cNvPr id="9" name="Rectangle 8"/>
          <p:cNvSpPr/>
          <p:nvPr/>
        </p:nvSpPr>
        <p:spPr>
          <a:xfrm>
            <a:off x="3520440" y="2286000"/>
            <a:ext cx="2468880" cy="13716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0440" y="2286000"/>
            <a:ext cx="2468880" cy="508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2514600"/>
            <a:ext cx="2194560" cy="640080"/>
          </a:xfrm>
          <a:prstGeom prst="rect">
            <a:avLst/>
          </a:prstGeom>
          <a:noFill/>
        </p:spPr>
        <p:txBody>
          <a:bodyPr wrap="square"/>
          <a:lstStyle/>
          <a:p>
            <a:pPr algn="ctr">
              <a:spcBef>
                <a:spcPts val="0"/>
              </a:spcBef>
              <a:spcAft>
                <a:spcPts val="0"/>
              </a:spcAft>
              <a:defRPr sz="3600" b="1">
                <a:solidFill>
                  <a:srgbClr val="1A7A4A"/>
                </a:solidFill>
                <a:latin typeface="Georgia"/>
              </a:defRPr>
            </a:pPr>
            <a:r>
              <a:t>100%</a:t>
            </a:r>
          </a:p>
        </p:txBody>
      </p:sp>
      <p:sp>
        <p:nvSpPr>
          <p:cNvPr id="12" name="TextBox 11"/>
          <p:cNvSpPr txBox="1"/>
          <p:nvPr/>
        </p:nvSpPr>
        <p:spPr>
          <a:xfrm>
            <a:off x="3611880" y="3154680"/>
            <a:ext cx="2286000" cy="548640"/>
          </a:xfrm>
          <a:prstGeom prst="rect">
            <a:avLst/>
          </a:prstGeom>
          <a:noFill/>
        </p:spPr>
        <p:txBody>
          <a:bodyPr wrap="square"/>
          <a:lstStyle/>
          <a:p>
            <a:pPr algn="ctr">
              <a:spcBef>
                <a:spcPts val="0"/>
              </a:spcBef>
              <a:spcAft>
                <a:spcPts val="0"/>
              </a:spcAft>
              <a:defRPr sz="1100" b="0">
                <a:solidFill>
                  <a:srgbClr val="6B655E"/>
                </a:solidFill>
                <a:latin typeface="Calibri"/>
              </a:defRPr>
            </a:pPr>
            <a:r>
              <a:t>Insurance</a:t>
            </a:r>
            <a:br/>
            <a:r>
              <a:t>Verified</a:t>
            </a:r>
          </a:p>
        </p:txBody>
      </p:sp>
      <p:sp>
        <p:nvSpPr>
          <p:cNvPr id="13" name="Rectangle 12"/>
          <p:cNvSpPr/>
          <p:nvPr/>
        </p:nvSpPr>
        <p:spPr>
          <a:xfrm>
            <a:off x="6309360" y="2286000"/>
            <a:ext cx="2468880" cy="13716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2286000"/>
            <a:ext cx="2468880" cy="5080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514600"/>
            <a:ext cx="2194560" cy="640080"/>
          </a:xfrm>
          <a:prstGeom prst="rect">
            <a:avLst/>
          </a:prstGeom>
          <a:noFill/>
        </p:spPr>
        <p:txBody>
          <a:bodyPr wrap="square"/>
          <a:lstStyle/>
          <a:p>
            <a:pPr algn="ctr">
              <a:spcBef>
                <a:spcPts val="0"/>
              </a:spcBef>
              <a:spcAft>
                <a:spcPts val="0"/>
              </a:spcAft>
              <a:defRPr sz="3600" b="1">
                <a:solidFill>
                  <a:srgbClr val="2C2825"/>
                </a:solidFill>
                <a:latin typeface="Georgia"/>
              </a:defRPr>
            </a:pPr>
            <a:r>
              <a:t>24/7</a:t>
            </a:r>
          </a:p>
        </p:txBody>
      </p:sp>
      <p:sp>
        <p:nvSpPr>
          <p:cNvPr id="16" name="TextBox 15"/>
          <p:cNvSpPr txBox="1"/>
          <p:nvPr/>
        </p:nvSpPr>
        <p:spPr>
          <a:xfrm>
            <a:off x="6400800" y="3154680"/>
            <a:ext cx="2286000" cy="548640"/>
          </a:xfrm>
          <a:prstGeom prst="rect">
            <a:avLst/>
          </a:prstGeom>
          <a:noFill/>
        </p:spPr>
        <p:txBody>
          <a:bodyPr wrap="square"/>
          <a:lstStyle/>
          <a:p>
            <a:pPr algn="ctr">
              <a:spcBef>
                <a:spcPts val="0"/>
              </a:spcBef>
              <a:spcAft>
                <a:spcPts val="0"/>
              </a:spcAft>
              <a:defRPr sz="1100" b="0">
                <a:solidFill>
                  <a:srgbClr val="6B655E"/>
                </a:solidFill>
                <a:latin typeface="Calibri"/>
              </a:defRPr>
            </a:pPr>
            <a:r>
              <a:t>Emergency</a:t>
            </a:r>
            <a:br/>
            <a:r>
              <a:t>Response</a:t>
            </a:r>
          </a:p>
        </p:txBody>
      </p:sp>
      <p:sp>
        <p:nvSpPr>
          <p:cNvPr id="17" name="Rectangle 16"/>
          <p:cNvSpPr/>
          <p:nvPr/>
        </p:nvSpPr>
        <p:spPr>
          <a:xfrm>
            <a:off x="9098279" y="2286000"/>
            <a:ext cx="2468880" cy="13716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98279" y="2286000"/>
            <a:ext cx="2468880" cy="508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39" y="2514600"/>
            <a:ext cx="2194560" cy="640080"/>
          </a:xfrm>
          <a:prstGeom prst="rect">
            <a:avLst/>
          </a:prstGeom>
          <a:noFill/>
        </p:spPr>
        <p:txBody>
          <a:bodyPr wrap="square"/>
          <a:lstStyle/>
          <a:p>
            <a:pPr algn="ctr">
              <a:spcBef>
                <a:spcPts val="0"/>
              </a:spcBef>
              <a:spcAft>
                <a:spcPts val="0"/>
              </a:spcAft>
              <a:defRPr sz="3600" b="1">
                <a:solidFill>
                  <a:srgbClr val="C4893A"/>
                </a:solidFill>
                <a:latin typeface="Georgia"/>
              </a:defRPr>
            </a:pPr>
            <a:r>
              <a:t>125+</a:t>
            </a:r>
          </a:p>
        </p:txBody>
      </p:sp>
      <p:sp>
        <p:nvSpPr>
          <p:cNvPr id="20" name="TextBox 19"/>
          <p:cNvSpPr txBox="1"/>
          <p:nvPr/>
        </p:nvSpPr>
        <p:spPr>
          <a:xfrm>
            <a:off x="9189719" y="3154680"/>
            <a:ext cx="2286000" cy="548640"/>
          </a:xfrm>
          <a:prstGeom prst="rect">
            <a:avLst/>
          </a:prstGeom>
          <a:noFill/>
        </p:spPr>
        <p:txBody>
          <a:bodyPr wrap="square"/>
          <a:lstStyle/>
          <a:p>
            <a:pPr algn="ctr">
              <a:spcBef>
                <a:spcPts val="0"/>
              </a:spcBef>
              <a:spcAft>
                <a:spcPts val="0"/>
              </a:spcAft>
              <a:defRPr sz="1100" b="0">
                <a:solidFill>
                  <a:srgbClr val="6B655E"/>
                </a:solidFill>
                <a:latin typeface="Calibri"/>
              </a:defRPr>
            </a:pPr>
            <a:r>
              <a:t>Buildings</a:t>
            </a:r>
            <a:br/>
            <a:r>
              <a:t>Served</a:t>
            </a:r>
          </a:p>
        </p:txBody>
      </p:sp>
      <p:sp>
        <p:nvSpPr>
          <p:cNvPr id="21" name="TextBox 20"/>
          <p:cNvSpPr txBox="1"/>
          <p:nvPr/>
        </p:nvSpPr>
        <p:spPr>
          <a:xfrm>
            <a:off x="731520" y="4023360"/>
            <a:ext cx="9144000" cy="365760"/>
          </a:xfrm>
          <a:prstGeom prst="rect">
            <a:avLst/>
          </a:prstGeom>
          <a:noFill/>
        </p:spPr>
        <p:txBody>
          <a:bodyPr wrap="square"/>
          <a:lstStyle/>
          <a:p>
            <a:pPr algn="l">
              <a:spcBef>
                <a:spcPts val="0"/>
              </a:spcBef>
              <a:spcAft>
                <a:spcPts val="0"/>
              </a:spcAft>
              <a:defRPr sz="1600" b="1">
                <a:solidFill>
                  <a:srgbClr val="2C2825"/>
                </a:solidFill>
                <a:latin typeface="Georgia"/>
              </a:defRPr>
            </a:pPr>
            <a:r>
              <a:t>Service Categories Covered</a:t>
            </a:r>
          </a:p>
        </p:txBody>
      </p:sp>
      <p:sp>
        <p:nvSpPr>
          <p:cNvPr id="22" name="Oval 21"/>
          <p:cNvSpPr/>
          <p:nvPr/>
        </p:nvSpPr>
        <p:spPr>
          <a:xfrm>
            <a:off x="731520" y="46268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5720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Elevator Maintenance</a:t>
            </a:r>
          </a:p>
        </p:txBody>
      </p:sp>
      <p:sp>
        <p:nvSpPr>
          <p:cNvPr id="24" name="Oval 23"/>
          <p:cNvSpPr/>
          <p:nvPr/>
        </p:nvSpPr>
        <p:spPr>
          <a:xfrm>
            <a:off x="3520440" y="46268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21608" y="45720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Plumbing &amp; Heating</a:t>
            </a:r>
          </a:p>
        </p:txBody>
      </p:sp>
      <p:sp>
        <p:nvSpPr>
          <p:cNvPr id="26" name="Oval 25"/>
          <p:cNvSpPr/>
          <p:nvPr/>
        </p:nvSpPr>
        <p:spPr>
          <a:xfrm>
            <a:off x="6309360" y="46268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45720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HVAC</a:t>
            </a:r>
          </a:p>
        </p:txBody>
      </p:sp>
      <p:sp>
        <p:nvSpPr>
          <p:cNvPr id="28" name="Oval 27"/>
          <p:cNvSpPr/>
          <p:nvPr/>
        </p:nvSpPr>
        <p:spPr>
          <a:xfrm>
            <a:off x="9098279" y="46268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99447" y="45720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Pest Control</a:t>
            </a:r>
          </a:p>
        </p:txBody>
      </p:sp>
      <p:sp>
        <p:nvSpPr>
          <p:cNvPr id="30" name="Oval 29"/>
          <p:cNvSpPr/>
          <p:nvPr/>
        </p:nvSpPr>
        <p:spPr>
          <a:xfrm>
            <a:off x="731520" y="50840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50292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Cleaning &amp; Porter</a:t>
            </a:r>
          </a:p>
        </p:txBody>
      </p:sp>
      <p:sp>
        <p:nvSpPr>
          <p:cNvPr id="32" name="Oval 31"/>
          <p:cNvSpPr/>
          <p:nvPr/>
        </p:nvSpPr>
        <p:spPr>
          <a:xfrm>
            <a:off x="3520440" y="50840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21608" y="50292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Fire Safety</a:t>
            </a:r>
          </a:p>
        </p:txBody>
      </p:sp>
      <p:sp>
        <p:nvSpPr>
          <p:cNvPr id="34" name="Oval 33"/>
          <p:cNvSpPr/>
          <p:nvPr/>
        </p:nvSpPr>
        <p:spPr>
          <a:xfrm>
            <a:off x="6309360" y="50840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10528" y="50292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Facade Repairs</a:t>
            </a:r>
          </a:p>
        </p:txBody>
      </p:sp>
      <p:sp>
        <p:nvSpPr>
          <p:cNvPr id="36" name="Oval 35"/>
          <p:cNvSpPr/>
          <p:nvPr/>
        </p:nvSpPr>
        <p:spPr>
          <a:xfrm>
            <a:off x="9098279" y="50840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99447" y="50292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Roofing</a:t>
            </a:r>
          </a:p>
        </p:txBody>
      </p:sp>
      <p:sp>
        <p:nvSpPr>
          <p:cNvPr id="38" name="Oval 37"/>
          <p:cNvSpPr/>
          <p:nvPr/>
        </p:nvSpPr>
        <p:spPr>
          <a:xfrm>
            <a:off x="731520" y="55412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 y="54864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Electrical</a:t>
            </a:r>
          </a:p>
        </p:txBody>
      </p:sp>
      <p:sp>
        <p:nvSpPr>
          <p:cNvPr id="40" name="Oval 39"/>
          <p:cNvSpPr/>
          <p:nvPr/>
        </p:nvSpPr>
        <p:spPr>
          <a:xfrm>
            <a:off x="3520440" y="55412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21608" y="54864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Landscaping</a:t>
            </a:r>
          </a:p>
        </p:txBody>
      </p:sp>
      <p:sp>
        <p:nvSpPr>
          <p:cNvPr id="42" name="Oval 41"/>
          <p:cNvSpPr/>
          <p:nvPr/>
        </p:nvSpPr>
        <p:spPr>
          <a:xfrm>
            <a:off x="6309360" y="55412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0528" y="54864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Security</a:t>
            </a:r>
          </a:p>
        </p:txBody>
      </p:sp>
      <p:sp>
        <p:nvSpPr>
          <p:cNvPr id="44" name="Oval 43"/>
          <p:cNvSpPr/>
          <p:nvPr/>
        </p:nvSpPr>
        <p:spPr>
          <a:xfrm>
            <a:off x="9098279" y="55412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99447" y="54864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Environmental</a:t>
            </a:r>
          </a:p>
        </p:txBody>
      </p:sp>
      <p:sp>
        <p:nvSpPr>
          <p:cNvPr id="46" name="Oval 45"/>
          <p:cNvSpPr/>
          <p:nvPr/>
        </p:nvSpPr>
        <p:spPr>
          <a:xfrm>
            <a:off x="731520" y="59984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2688" y="59436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Insurance</a:t>
            </a:r>
          </a:p>
        </p:txBody>
      </p:sp>
      <p:sp>
        <p:nvSpPr>
          <p:cNvPr id="48" name="Oval 47"/>
          <p:cNvSpPr/>
          <p:nvPr/>
        </p:nvSpPr>
        <p:spPr>
          <a:xfrm>
            <a:off x="3520440" y="59984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21608" y="59436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Legal Services</a:t>
            </a:r>
          </a:p>
        </p:txBody>
      </p:sp>
      <p:sp>
        <p:nvSpPr>
          <p:cNvPr id="50" name="Oval 49"/>
          <p:cNvSpPr/>
          <p:nvPr/>
        </p:nvSpPr>
        <p:spPr>
          <a:xfrm>
            <a:off x="6309360" y="59984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10528" y="59436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Accounting</a:t>
            </a:r>
          </a:p>
        </p:txBody>
      </p:sp>
      <p:sp>
        <p:nvSpPr>
          <p:cNvPr id="52" name="Oval 51"/>
          <p:cNvSpPr/>
          <p:nvPr/>
        </p:nvSpPr>
        <p:spPr>
          <a:xfrm>
            <a:off x="9098279" y="59984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99447" y="5943600"/>
            <a:ext cx="2286000" cy="274320"/>
          </a:xfrm>
          <a:prstGeom prst="rect">
            <a:avLst/>
          </a:prstGeom>
          <a:noFill/>
        </p:spPr>
        <p:txBody>
          <a:bodyPr wrap="square"/>
          <a:lstStyle/>
          <a:p>
            <a:pPr algn="l">
              <a:spcBef>
                <a:spcPts val="0"/>
              </a:spcBef>
              <a:spcAft>
                <a:spcPts val="0"/>
              </a:spcAft>
              <a:defRPr sz="1100" b="0">
                <a:solidFill>
                  <a:srgbClr val="2C2825"/>
                </a:solidFill>
                <a:latin typeface="Calibri"/>
              </a:defRPr>
            </a:pPr>
            <a:r>
              <a:t>Engineering</a:t>
            </a:r>
          </a:p>
        </p:txBody>
      </p:sp>
      <p:sp>
        <p:nvSpPr>
          <p:cNvPr id="54" name="TextBox 53"/>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FEATURE DEEP DIVE</a:t>
            </a:r>
          </a:p>
        </p:txBody>
      </p:sp>
      <p:sp>
        <p:nvSpPr>
          <p:cNvPr id="3" name="TextBox 2"/>
          <p:cNvSpPr txBox="1"/>
          <p:nvPr/>
        </p:nvSpPr>
        <p:spPr>
          <a:xfrm>
            <a:off x="731520" y="822960"/>
            <a:ext cx="9144000" cy="640080"/>
          </a:xfrm>
          <a:prstGeom prst="rect">
            <a:avLst/>
          </a:prstGeom>
          <a:noFill/>
        </p:spPr>
        <p:txBody>
          <a:bodyPr wrap="square"/>
          <a:lstStyle/>
          <a:p>
            <a:pPr algn="l">
              <a:spcBef>
                <a:spcPts val="0"/>
              </a:spcBef>
              <a:spcAft>
                <a:spcPts val="0"/>
              </a:spcAft>
              <a:defRPr sz="3600" b="1">
                <a:solidFill>
                  <a:srgbClr val="2C2825"/>
                </a:solidFill>
                <a:latin typeface="Georgia"/>
              </a:defRPr>
            </a:pPr>
            <a:r>
              <a:t>Invoice Upload &amp; AI Analysis</a:t>
            </a:r>
          </a:p>
        </p:txBody>
      </p:sp>
      <p:sp>
        <p:nvSpPr>
          <p:cNvPr id="4" name="TextBox 3"/>
          <p:cNvSpPr txBox="1"/>
          <p:nvPr/>
        </p:nvSpPr>
        <p:spPr>
          <a:xfrm>
            <a:off x="731520" y="1554480"/>
            <a:ext cx="9144000" cy="457200"/>
          </a:xfrm>
          <a:prstGeom prst="rect">
            <a:avLst/>
          </a:prstGeom>
          <a:noFill/>
        </p:spPr>
        <p:txBody>
          <a:bodyPr wrap="square"/>
          <a:lstStyle/>
          <a:p>
            <a:pPr algn="l">
              <a:spcBef>
                <a:spcPts val="0"/>
              </a:spcBef>
              <a:spcAft>
                <a:spcPts val="0"/>
              </a:spcAft>
              <a:defRPr sz="1400" b="0">
                <a:solidFill>
                  <a:srgbClr val="6B655E"/>
                </a:solidFill>
                <a:latin typeface="Calibri"/>
              </a:defRPr>
            </a:pPr>
            <a:r>
              <a:t>Upload your building's invoices. Our AI extracts vendor details, categorizes spending, and benchmarks every line item.</a:t>
            </a:r>
          </a:p>
        </p:txBody>
      </p:sp>
      <p:sp>
        <p:nvSpPr>
          <p:cNvPr id="5" name="Rectangle 4"/>
          <p:cNvSpPr/>
          <p:nvPr/>
        </p:nvSpPr>
        <p:spPr>
          <a:xfrm>
            <a:off x="731520" y="2286000"/>
            <a:ext cx="73152" cy="82296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286000"/>
            <a:ext cx="1828800" cy="274320"/>
          </a:xfrm>
          <a:prstGeom prst="rect">
            <a:avLst/>
          </a:prstGeom>
          <a:noFill/>
        </p:spPr>
        <p:txBody>
          <a:bodyPr wrap="square"/>
          <a:lstStyle/>
          <a:p>
            <a:pPr algn="l">
              <a:spcBef>
                <a:spcPts val="0"/>
              </a:spcBef>
              <a:spcAft>
                <a:spcPts val="0"/>
              </a:spcAft>
              <a:defRPr sz="1400" b="1">
                <a:solidFill>
                  <a:srgbClr val="2C2825"/>
                </a:solidFill>
                <a:latin typeface="Calibri"/>
              </a:defRPr>
            </a:pPr>
            <a:r>
              <a:t>Upload</a:t>
            </a:r>
          </a:p>
        </p:txBody>
      </p:sp>
      <p:sp>
        <p:nvSpPr>
          <p:cNvPr id="7" name="TextBox 6"/>
          <p:cNvSpPr txBox="1"/>
          <p:nvPr/>
        </p:nvSpPr>
        <p:spPr>
          <a:xfrm>
            <a:off x="1005840" y="2578608"/>
            <a:ext cx="4572000" cy="548640"/>
          </a:xfrm>
          <a:prstGeom prst="rect">
            <a:avLst/>
          </a:prstGeom>
          <a:noFill/>
        </p:spPr>
        <p:txBody>
          <a:bodyPr wrap="square"/>
          <a:lstStyle/>
          <a:p>
            <a:pPr algn="l">
              <a:spcBef>
                <a:spcPts val="0"/>
              </a:spcBef>
              <a:spcAft>
                <a:spcPts val="0"/>
              </a:spcAft>
              <a:defRPr sz="1100" b="0">
                <a:solidFill>
                  <a:srgbClr val="6B655E"/>
                </a:solidFill>
                <a:latin typeface="Calibri"/>
              </a:defRPr>
            </a:pPr>
            <a:r>
              <a:t>Drop your PDF or CSV invoices into BoardIQ. Works with operating statements, individual invoices, and vendor payment records.</a:t>
            </a:r>
          </a:p>
        </p:txBody>
      </p:sp>
      <p:sp>
        <p:nvSpPr>
          <p:cNvPr id="8" name="Rectangle 7"/>
          <p:cNvSpPr/>
          <p:nvPr/>
        </p:nvSpPr>
        <p:spPr>
          <a:xfrm>
            <a:off x="731520" y="3337560"/>
            <a:ext cx="73152" cy="82296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828800" cy="274320"/>
          </a:xfrm>
          <a:prstGeom prst="rect">
            <a:avLst/>
          </a:prstGeom>
          <a:noFill/>
        </p:spPr>
        <p:txBody>
          <a:bodyPr wrap="square"/>
          <a:lstStyle/>
          <a:p>
            <a:pPr algn="l">
              <a:spcBef>
                <a:spcPts val="0"/>
              </a:spcBef>
              <a:spcAft>
                <a:spcPts val="0"/>
              </a:spcAft>
              <a:defRPr sz="1400" b="1">
                <a:solidFill>
                  <a:srgbClr val="2C2825"/>
                </a:solidFill>
                <a:latin typeface="Calibri"/>
              </a:defRPr>
            </a:pPr>
            <a:r>
              <a:t>Extract</a:t>
            </a:r>
          </a:p>
        </p:txBody>
      </p:sp>
      <p:sp>
        <p:nvSpPr>
          <p:cNvPr id="10" name="TextBox 9"/>
          <p:cNvSpPr txBox="1"/>
          <p:nvPr/>
        </p:nvSpPr>
        <p:spPr>
          <a:xfrm>
            <a:off x="1005840" y="3630168"/>
            <a:ext cx="4572000" cy="548640"/>
          </a:xfrm>
          <a:prstGeom prst="rect">
            <a:avLst/>
          </a:prstGeom>
          <a:noFill/>
        </p:spPr>
        <p:txBody>
          <a:bodyPr wrap="square"/>
          <a:lstStyle/>
          <a:p>
            <a:pPr algn="l">
              <a:spcBef>
                <a:spcPts val="0"/>
              </a:spcBef>
              <a:spcAft>
                <a:spcPts val="0"/>
              </a:spcAft>
              <a:defRPr sz="1100" b="0">
                <a:solidFill>
                  <a:srgbClr val="6B655E"/>
                </a:solidFill>
                <a:latin typeface="Calibri"/>
              </a:defRPr>
            </a:pPr>
            <a:r>
              <a:t>AI reads every line item — vendor names, amounts, categories, payment dates — and structures it into clean data.</a:t>
            </a:r>
          </a:p>
        </p:txBody>
      </p:sp>
      <p:sp>
        <p:nvSpPr>
          <p:cNvPr id="11" name="Rectangle 10"/>
          <p:cNvSpPr/>
          <p:nvPr/>
        </p:nvSpPr>
        <p:spPr>
          <a:xfrm>
            <a:off x="731520" y="4389120"/>
            <a:ext cx="73152" cy="82296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389120"/>
            <a:ext cx="1828800" cy="274320"/>
          </a:xfrm>
          <a:prstGeom prst="rect">
            <a:avLst/>
          </a:prstGeom>
          <a:noFill/>
        </p:spPr>
        <p:txBody>
          <a:bodyPr wrap="square"/>
          <a:lstStyle/>
          <a:p>
            <a:pPr algn="l">
              <a:spcBef>
                <a:spcPts val="0"/>
              </a:spcBef>
              <a:spcAft>
                <a:spcPts val="0"/>
              </a:spcAft>
              <a:defRPr sz="1400" b="1">
                <a:solidFill>
                  <a:srgbClr val="2C2825"/>
                </a:solidFill>
                <a:latin typeface="Calibri"/>
              </a:defRPr>
            </a:pPr>
            <a:r>
              <a:t>Benchmark</a:t>
            </a:r>
          </a:p>
        </p:txBody>
      </p:sp>
      <p:sp>
        <p:nvSpPr>
          <p:cNvPr id="13" name="TextBox 12"/>
          <p:cNvSpPr txBox="1"/>
          <p:nvPr/>
        </p:nvSpPr>
        <p:spPr>
          <a:xfrm>
            <a:off x="1005840" y="4681728"/>
            <a:ext cx="4572000" cy="548640"/>
          </a:xfrm>
          <a:prstGeom prst="rect">
            <a:avLst/>
          </a:prstGeom>
          <a:noFill/>
        </p:spPr>
        <p:txBody>
          <a:bodyPr wrap="square"/>
          <a:lstStyle/>
          <a:p>
            <a:pPr algn="l">
              <a:spcBef>
                <a:spcPts val="0"/>
              </a:spcBef>
              <a:spcAft>
                <a:spcPts val="0"/>
              </a:spcAft>
              <a:defRPr sz="1100" b="0">
                <a:solidFill>
                  <a:srgbClr val="6B655E"/>
                </a:solidFill>
                <a:latin typeface="Calibri"/>
              </a:defRPr>
            </a:pPr>
            <a:r>
              <a:t>Each vendor cost is instantly compared against peer buildings. You see where you're in line and where you're overpaying.</a:t>
            </a:r>
          </a:p>
        </p:txBody>
      </p:sp>
      <p:sp>
        <p:nvSpPr>
          <p:cNvPr id="14" name="Rectangle 13"/>
          <p:cNvSpPr/>
          <p:nvPr/>
        </p:nvSpPr>
        <p:spPr>
          <a:xfrm>
            <a:off x="731520" y="5440679"/>
            <a:ext cx="73152" cy="82296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440679"/>
            <a:ext cx="1828800" cy="274320"/>
          </a:xfrm>
          <a:prstGeom prst="rect">
            <a:avLst/>
          </a:prstGeom>
          <a:noFill/>
        </p:spPr>
        <p:txBody>
          <a:bodyPr wrap="square"/>
          <a:lstStyle/>
          <a:p>
            <a:pPr algn="l">
              <a:spcBef>
                <a:spcPts val="0"/>
              </a:spcBef>
              <a:spcAft>
                <a:spcPts val="0"/>
              </a:spcAft>
              <a:defRPr sz="1400" b="1">
                <a:solidFill>
                  <a:srgbClr val="2C2825"/>
                </a:solidFill>
                <a:latin typeface="Calibri"/>
              </a:defRPr>
            </a:pPr>
            <a:r>
              <a:t>Act</a:t>
            </a:r>
          </a:p>
        </p:txBody>
      </p:sp>
      <p:sp>
        <p:nvSpPr>
          <p:cNvPr id="16" name="TextBox 15"/>
          <p:cNvSpPr txBox="1"/>
          <p:nvPr/>
        </p:nvSpPr>
        <p:spPr>
          <a:xfrm>
            <a:off x="1005840" y="5733287"/>
            <a:ext cx="4572000" cy="548640"/>
          </a:xfrm>
          <a:prstGeom prst="rect">
            <a:avLst/>
          </a:prstGeom>
          <a:noFill/>
        </p:spPr>
        <p:txBody>
          <a:bodyPr wrap="square"/>
          <a:lstStyle/>
          <a:p>
            <a:pPr algn="l">
              <a:spcBef>
                <a:spcPts val="0"/>
              </a:spcBef>
              <a:spcAft>
                <a:spcPts val="0"/>
              </a:spcAft>
              <a:defRPr sz="1100" b="0">
                <a:solidFill>
                  <a:srgbClr val="6B655E"/>
                </a:solidFill>
                <a:latin typeface="Calibri"/>
              </a:defRPr>
            </a:pPr>
            <a:r>
              <a:t>Savings opportunities are flagged. Create a bid request directly from any line item that's above market rate.</a:t>
            </a:r>
          </a:p>
        </p:txBody>
      </p:sp>
      <p:sp>
        <p:nvSpPr>
          <p:cNvPr id="17" name="Rectangle 16"/>
          <p:cNvSpPr/>
          <p:nvPr/>
        </p:nvSpPr>
        <p:spPr>
          <a:xfrm>
            <a:off x="6217920" y="2103120"/>
            <a:ext cx="5212080" cy="41148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240280"/>
            <a:ext cx="4572000" cy="320040"/>
          </a:xfrm>
          <a:prstGeom prst="rect">
            <a:avLst/>
          </a:prstGeom>
          <a:noFill/>
        </p:spPr>
        <p:txBody>
          <a:bodyPr wrap="square"/>
          <a:lstStyle/>
          <a:p>
            <a:pPr algn="l">
              <a:spcBef>
                <a:spcPts val="0"/>
              </a:spcBef>
              <a:spcAft>
                <a:spcPts val="0"/>
              </a:spcAft>
              <a:defRPr sz="1300" b="1">
                <a:solidFill>
                  <a:srgbClr val="2C2825"/>
                </a:solidFill>
                <a:latin typeface="Georgia"/>
              </a:defRPr>
            </a:pPr>
            <a:r>
              <a:t>Sample Extracted Data</a:t>
            </a:r>
          </a:p>
        </p:txBody>
      </p:sp>
      <p:sp>
        <p:nvSpPr>
          <p:cNvPr id="19" name="Rectangle 18"/>
          <p:cNvSpPr/>
          <p:nvPr/>
        </p:nvSpPr>
        <p:spPr>
          <a:xfrm>
            <a:off x="6400800" y="2743200"/>
            <a:ext cx="4846320" cy="384048"/>
          </a:xfrm>
          <a:prstGeom prst="rect">
            <a:avLst/>
          </a:prstGeom>
          <a:solidFill>
            <a:srgbClr val="F9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788920"/>
            <a:ext cx="1645920" cy="274320"/>
          </a:xfrm>
          <a:prstGeom prst="rect">
            <a:avLst/>
          </a:prstGeom>
          <a:noFill/>
        </p:spPr>
        <p:txBody>
          <a:bodyPr wrap="square"/>
          <a:lstStyle/>
          <a:p>
            <a:pPr algn="l">
              <a:spcBef>
                <a:spcPts val="0"/>
              </a:spcBef>
              <a:spcAft>
                <a:spcPts val="0"/>
              </a:spcAft>
              <a:defRPr sz="900" b="1">
                <a:solidFill>
                  <a:srgbClr val="2C2825"/>
                </a:solidFill>
                <a:latin typeface="Calibri"/>
              </a:defRPr>
            </a:pPr>
            <a:r>
              <a:t>Con Edison</a:t>
            </a:r>
          </a:p>
        </p:txBody>
      </p:sp>
      <p:sp>
        <p:nvSpPr>
          <p:cNvPr id="21" name="TextBox 20"/>
          <p:cNvSpPr txBox="1"/>
          <p:nvPr/>
        </p:nvSpPr>
        <p:spPr>
          <a:xfrm>
            <a:off x="8138160" y="2788920"/>
            <a:ext cx="1188720" cy="274320"/>
          </a:xfrm>
          <a:prstGeom prst="rect">
            <a:avLst/>
          </a:prstGeom>
          <a:noFill/>
        </p:spPr>
        <p:txBody>
          <a:bodyPr wrap="square"/>
          <a:lstStyle/>
          <a:p>
            <a:pPr algn="l">
              <a:spcBef>
                <a:spcPts val="0"/>
              </a:spcBef>
              <a:spcAft>
                <a:spcPts val="0"/>
              </a:spcAft>
              <a:defRPr sz="900" b="0">
                <a:solidFill>
                  <a:srgbClr val="6B655E"/>
                </a:solidFill>
                <a:latin typeface="Calibri"/>
              </a:defRPr>
            </a:pPr>
            <a:r>
              <a:t>Electric Utilities</a:t>
            </a:r>
          </a:p>
        </p:txBody>
      </p:sp>
      <p:sp>
        <p:nvSpPr>
          <p:cNvPr id="22" name="TextBox 21"/>
          <p:cNvSpPr txBox="1"/>
          <p:nvPr/>
        </p:nvSpPr>
        <p:spPr>
          <a:xfrm>
            <a:off x="9326880" y="2788920"/>
            <a:ext cx="914400" cy="274320"/>
          </a:xfrm>
          <a:prstGeom prst="rect">
            <a:avLst/>
          </a:prstGeom>
          <a:noFill/>
        </p:spPr>
        <p:txBody>
          <a:bodyPr wrap="square"/>
          <a:lstStyle/>
          <a:p>
            <a:pPr algn="r">
              <a:spcBef>
                <a:spcPts val="0"/>
              </a:spcBef>
              <a:spcAft>
                <a:spcPts val="0"/>
              </a:spcAft>
              <a:defRPr sz="900" b="0">
                <a:solidFill>
                  <a:srgbClr val="2C2825"/>
                </a:solidFill>
                <a:latin typeface="Georgia"/>
              </a:defRPr>
            </a:pPr>
            <a:r>
              <a:t>$663,729</a:t>
            </a:r>
          </a:p>
        </p:txBody>
      </p:sp>
      <p:sp>
        <p:nvSpPr>
          <p:cNvPr id="23" name="TextBox 22"/>
          <p:cNvSpPr txBox="1"/>
          <p:nvPr/>
        </p:nvSpPr>
        <p:spPr>
          <a:xfrm>
            <a:off x="10332720" y="2788920"/>
            <a:ext cx="822960" cy="274320"/>
          </a:xfrm>
          <a:prstGeom prst="rect">
            <a:avLst/>
          </a:prstGeom>
          <a:noFill/>
        </p:spPr>
        <p:txBody>
          <a:bodyPr wrap="square"/>
          <a:lstStyle/>
          <a:p>
            <a:pPr algn="r">
              <a:spcBef>
                <a:spcPts val="0"/>
              </a:spcBef>
              <a:spcAft>
                <a:spcPts val="0"/>
              </a:spcAft>
              <a:defRPr sz="900" b="0">
                <a:solidFill>
                  <a:srgbClr val="C4893A"/>
                </a:solidFill>
                <a:latin typeface="Calibri"/>
              </a:defRPr>
            </a:pPr>
            <a:r>
              <a:t>—</a:t>
            </a:r>
          </a:p>
        </p:txBody>
      </p:sp>
      <p:sp>
        <p:nvSpPr>
          <p:cNvPr id="24" name="Rectangle 23"/>
          <p:cNvSpPr/>
          <p:nvPr/>
        </p:nvSpPr>
        <p:spPr>
          <a:xfrm>
            <a:off x="6400800" y="3182112"/>
            <a:ext cx="48463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3227832"/>
            <a:ext cx="1645920" cy="274320"/>
          </a:xfrm>
          <a:prstGeom prst="rect">
            <a:avLst/>
          </a:prstGeom>
          <a:noFill/>
        </p:spPr>
        <p:txBody>
          <a:bodyPr wrap="square"/>
          <a:lstStyle/>
          <a:p>
            <a:pPr algn="l">
              <a:spcBef>
                <a:spcPts val="0"/>
              </a:spcBef>
              <a:spcAft>
                <a:spcPts val="0"/>
              </a:spcAft>
              <a:defRPr sz="900" b="1">
                <a:solidFill>
                  <a:srgbClr val="2C2825"/>
                </a:solidFill>
                <a:latin typeface="Calibri"/>
              </a:defRPr>
            </a:pPr>
            <a:r>
              <a:t>National Coop Bank</a:t>
            </a:r>
          </a:p>
        </p:txBody>
      </p:sp>
      <p:sp>
        <p:nvSpPr>
          <p:cNvPr id="26" name="TextBox 25"/>
          <p:cNvSpPr txBox="1"/>
          <p:nvPr/>
        </p:nvSpPr>
        <p:spPr>
          <a:xfrm>
            <a:off x="8138160" y="3227832"/>
            <a:ext cx="1188720" cy="274320"/>
          </a:xfrm>
          <a:prstGeom prst="rect">
            <a:avLst/>
          </a:prstGeom>
          <a:noFill/>
        </p:spPr>
        <p:txBody>
          <a:bodyPr wrap="square"/>
          <a:lstStyle/>
          <a:p>
            <a:pPr algn="l">
              <a:spcBef>
                <a:spcPts val="0"/>
              </a:spcBef>
              <a:spcAft>
                <a:spcPts val="0"/>
              </a:spcAft>
              <a:defRPr sz="900" b="0">
                <a:solidFill>
                  <a:srgbClr val="6B655E"/>
                </a:solidFill>
                <a:latin typeface="Calibri"/>
              </a:defRPr>
            </a:pPr>
            <a:r>
              <a:t>Mortgage</a:t>
            </a:r>
          </a:p>
        </p:txBody>
      </p:sp>
      <p:sp>
        <p:nvSpPr>
          <p:cNvPr id="27" name="TextBox 26"/>
          <p:cNvSpPr txBox="1"/>
          <p:nvPr/>
        </p:nvSpPr>
        <p:spPr>
          <a:xfrm>
            <a:off x="9326880" y="3227832"/>
            <a:ext cx="914400" cy="274320"/>
          </a:xfrm>
          <a:prstGeom prst="rect">
            <a:avLst/>
          </a:prstGeom>
          <a:noFill/>
        </p:spPr>
        <p:txBody>
          <a:bodyPr wrap="square"/>
          <a:lstStyle/>
          <a:p>
            <a:pPr algn="r">
              <a:spcBef>
                <a:spcPts val="0"/>
              </a:spcBef>
              <a:spcAft>
                <a:spcPts val="0"/>
              </a:spcAft>
              <a:defRPr sz="900" b="0">
                <a:solidFill>
                  <a:srgbClr val="2C2825"/>
                </a:solidFill>
                <a:latin typeface="Georgia"/>
              </a:defRPr>
            </a:pPr>
            <a:r>
              <a:t>$440,019</a:t>
            </a:r>
          </a:p>
        </p:txBody>
      </p:sp>
      <p:sp>
        <p:nvSpPr>
          <p:cNvPr id="28" name="TextBox 27"/>
          <p:cNvSpPr txBox="1"/>
          <p:nvPr/>
        </p:nvSpPr>
        <p:spPr>
          <a:xfrm>
            <a:off x="10332720" y="3227832"/>
            <a:ext cx="822960" cy="274320"/>
          </a:xfrm>
          <a:prstGeom prst="rect">
            <a:avLst/>
          </a:prstGeom>
          <a:noFill/>
        </p:spPr>
        <p:txBody>
          <a:bodyPr wrap="square"/>
          <a:lstStyle/>
          <a:p>
            <a:pPr algn="r">
              <a:spcBef>
                <a:spcPts val="0"/>
              </a:spcBef>
              <a:spcAft>
                <a:spcPts val="0"/>
              </a:spcAft>
              <a:defRPr sz="900" b="0">
                <a:solidFill>
                  <a:srgbClr val="C4893A"/>
                </a:solidFill>
                <a:latin typeface="Calibri"/>
              </a:defRPr>
            </a:pPr>
            <a:r>
              <a:t>—</a:t>
            </a:r>
          </a:p>
        </p:txBody>
      </p:sp>
      <p:sp>
        <p:nvSpPr>
          <p:cNvPr id="29" name="Rectangle 28"/>
          <p:cNvSpPr/>
          <p:nvPr/>
        </p:nvSpPr>
        <p:spPr>
          <a:xfrm>
            <a:off x="6400800" y="3621024"/>
            <a:ext cx="4846320" cy="384048"/>
          </a:xfrm>
          <a:prstGeom prst="rect">
            <a:avLst/>
          </a:prstGeom>
          <a:solidFill>
            <a:srgbClr val="F9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3666744"/>
            <a:ext cx="1645920" cy="274320"/>
          </a:xfrm>
          <a:prstGeom prst="rect">
            <a:avLst/>
          </a:prstGeom>
          <a:noFill/>
        </p:spPr>
        <p:txBody>
          <a:bodyPr wrap="square"/>
          <a:lstStyle/>
          <a:p>
            <a:pPr algn="l">
              <a:spcBef>
                <a:spcPts val="0"/>
              </a:spcBef>
              <a:spcAft>
                <a:spcPts val="0"/>
              </a:spcAft>
              <a:defRPr sz="900" b="1">
                <a:solidFill>
                  <a:srgbClr val="2C2825"/>
                </a:solidFill>
                <a:latin typeface="Calibri"/>
              </a:defRPr>
            </a:pPr>
            <a:r>
              <a:t>NY-Alliant Insurance</a:t>
            </a:r>
          </a:p>
        </p:txBody>
      </p:sp>
      <p:sp>
        <p:nvSpPr>
          <p:cNvPr id="31" name="TextBox 30"/>
          <p:cNvSpPr txBox="1"/>
          <p:nvPr/>
        </p:nvSpPr>
        <p:spPr>
          <a:xfrm>
            <a:off x="8138160" y="3666744"/>
            <a:ext cx="1188720" cy="274320"/>
          </a:xfrm>
          <a:prstGeom prst="rect">
            <a:avLst/>
          </a:prstGeom>
          <a:noFill/>
        </p:spPr>
        <p:txBody>
          <a:bodyPr wrap="square"/>
          <a:lstStyle/>
          <a:p>
            <a:pPr algn="l">
              <a:spcBef>
                <a:spcPts val="0"/>
              </a:spcBef>
              <a:spcAft>
                <a:spcPts val="0"/>
              </a:spcAft>
              <a:defRPr sz="900" b="0">
                <a:solidFill>
                  <a:srgbClr val="6B655E"/>
                </a:solidFill>
                <a:latin typeface="Calibri"/>
              </a:defRPr>
            </a:pPr>
            <a:r>
              <a:t>Insurance</a:t>
            </a:r>
          </a:p>
        </p:txBody>
      </p:sp>
      <p:sp>
        <p:nvSpPr>
          <p:cNvPr id="32" name="TextBox 31"/>
          <p:cNvSpPr txBox="1"/>
          <p:nvPr/>
        </p:nvSpPr>
        <p:spPr>
          <a:xfrm>
            <a:off x="9326880" y="3666744"/>
            <a:ext cx="914400" cy="274320"/>
          </a:xfrm>
          <a:prstGeom prst="rect">
            <a:avLst/>
          </a:prstGeom>
          <a:noFill/>
        </p:spPr>
        <p:txBody>
          <a:bodyPr wrap="square"/>
          <a:lstStyle/>
          <a:p>
            <a:pPr algn="r">
              <a:spcBef>
                <a:spcPts val="0"/>
              </a:spcBef>
              <a:spcAft>
                <a:spcPts val="0"/>
              </a:spcAft>
              <a:defRPr sz="900" b="0">
                <a:solidFill>
                  <a:srgbClr val="2C2825"/>
                </a:solidFill>
                <a:latin typeface="Georgia"/>
              </a:defRPr>
            </a:pPr>
            <a:r>
              <a:t>$144,768</a:t>
            </a:r>
          </a:p>
        </p:txBody>
      </p:sp>
      <p:sp>
        <p:nvSpPr>
          <p:cNvPr id="33" name="TextBox 32"/>
          <p:cNvSpPr txBox="1"/>
          <p:nvPr/>
        </p:nvSpPr>
        <p:spPr>
          <a:xfrm>
            <a:off x="10332720" y="3666744"/>
            <a:ext cx="822960" cy="274320"/>
          </a:xfrm>
          <a:prstGeom prst="rect">
            <a:avLst/>
          </a:prstGeom>
          <a:noFill/>
        </p:spPr>
        <p:txBody>
          <a:bodyPr wrap="square"/>
          <a:lstStyle/>
          <a:p>
            <a:pPr algn="r">
              <a:spcBef>
                <a:spcPts val="0"/>
              </a:spcBef>
              <a:spcAft>
                <a:spcPts val="0"/>
              </a:spcAft>
              <a:defRPr sz="900" b="0">
                <a:solidFill>
                  <a:srgbClr val="C4893A"/>
                </a:solidFill>
                <a:latin typeface="Calibri"/>
              </a:defRPr>
            </a:pPr>
            <a:r>
              <a:t>$504/unit</a:t>
            </a:r>
          </a:p>
        </p:txBody>
      </p:sp>
      <p:sp>
        <p:nvSpPr>
          <p:cNvPr id="34" name="Rectangle 33"/>
          <p:cNvSpPr/>
          <p:nvPr/>
        </p:nvSpPr>
        <p:spPr>
          <a:xfrm>
            <a:off x="6400800" y="4059936"/>
            <a:ext cx="48463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0" y="4105656"/>
            <a:ext cx="1645920" cy="274320"/>
          </a:xfrm>
          <a:prstGeom prst="rect">
            <a:avLst/>
          </a:prstGeom>
          <a:noFill/>
        </p:spPr>
        <p:txBody>
          <a:bodyPr wrap="square"/>
          <a:lstStyle/>
          <a:p>
            <a:pPr algn="l">
              <a:spcBef>
                <a:spcPts val="0"/>
              </a:spcBef>
              <a:spcAft>
                <a:spcPts val="0"/>
              </a:spcAft>
              <a:defRPr sz="900" b="1">
                <a:solidFill>
                  <a:srgbClr val="2C2825"/>
                </a:solidFill>
                <a:latin typeface="Calibri"/>
              </a:defRPr>
            </a:pPr>
            <a:r>
              <a:t>Adriatic Plumbing</a:t>
            </a:r>
          </a:p>
        </p:txBody>
      </p:sp>
      <p:sp>
        <p:nvSpPr>
          <p:cNvPr id="36" name="TextBox 35"/>
          <p:cNvSpPr txBox="1"/>
          <p:nvPr/>
        </p:nvSpPr>
        <p:spPr>
          <a:xfrm>
            <a:off x="8138160" y="4105656"/>
            <a:ext cx="1188720" cy="274320"/>
          </a:xfrm>
          <a:prstGeom prst="rect">
            <a:avLst/>
          </a:prstGeom>
          <a:noFill/>
        </p:spPr>
        <p:txBody>
          <a:bodyPr wrap="square"/>
          <a:lstStyle/>
          <a:p>
            <a:pPr algn="l">
              <a:spcBef>
                <a:spcPts val="0"/>
              </a:spcBef>
              <a:spcAft>
                <a:spcPts val="0"/>
              </a:spcAft>
              <a:defRPr sz="900" b="0">
                <a:solidFill>
                  <a:srgbClr val="6B655E"/>
                </a:solidFill>
                <a:latin typeface="Calibri"/>
              </a:defRPr>
            </a:pPr>
            <a:r>
              <a:t>Plumbing</a:t>
            </a:r>
          </a:p>
        </p:txBody>
      </p:sp>
      <p:sp>
        <p:nvSpPr>
          <p:cNvPr id="37" name="TextBox 36"/>
          <p:cNvSpPr txBox="1"/>
          <p:nvPr/>
        </p:nvSpPr>
        <p:spPr>
          <a:xfrm>
            <a:off x="9326880" y="4105656"/>
            <a:ext cx="914400" cy="274320"/>
          </a:xfrm>
          <a:prstGeom prst="rect">
            <a:avLst/>
          </a:prstGeom>
          <a:noFill/>
        </p:spPr>
        <p:txBody>
          <a:bodyPr wrap="square"/>
          <a:lstStyle/>
          <a:p>
            <a:pPr algn="r">
              <a:spcBef>
                <a:spcPts val="0"/>
              </a:spcBef>
              <a:spcAft>
                <a:spcPts val="0"/>
              </a:spcAft>
              <a:defRPr sz="900" b="0">
                <a:solidFill>
                  <a:srgbClr val="2C2825"/>
                </a:solidFill>
                <a:latin typeface="Georgia"/>
              </a:defRPr>
            </a:pPr>
            <a:r>
              <a:t>$104,953</a:t>
            </a:r>
          </a:p>
        </p:txBody>
      </p:sp>
      <p:sp>
        <p:nvSpPr>
          <p:cNvPr id="38" name="TextBox 37"/>
          <p:cNvSpPr txBox="1"/>
          <p:nvPr/>
        </p:nvSpPr>
        <p:spPr>
          <a:xfrm>
            <a:off x="10332720" y="4105656"/>
            <a:ext cx="822960" cy="274320"/>
          </a:xfrm>
          <a:prstGeom prst="rect">
            <a:avLst/>
          </a:prstGeom>
          <a:noFill/>
        </p:spPr>
        <p:txBody>
          <a:bodyPr wrap="square"/>
          <a:lstStyle/>
          <a:p>
            <a:pPr algn="r">
              <a:spcBef>
                <a:spcPts val="0"/>
              </a:spcBef>
              <a:spcAft>
                <a:spcPts val="0"/>
              </a:spcAft>
              <a:defRPr sz="900" b="0">
                <a:solidFill>
                  <a:srgbClr val="C4893A"/>
                </a:solidFill>
                <a:latin typeface="Calibri"/>
              </a:defRPr>
            </a:pPr>
            <a:r>
              <a:t>$366/unit</a:t>
            </a:r>
          </a:p>
        </p:txBody>
      </p:sp>
      <p:sp>
        <p:nvSpPr>
          <p:cNvPr id="39" name="Rectangle 38"/>
          <p:cNvSpPr/>
          <p:nvPr/>
        </p:nvSpPr>
        <p:spPr>
          <a:xfrm>
            <a:off x="6400800" y="4498848"/>
            <a:ext cx="4846320" cy="384048"/>
          </a:xfrm>
          <a:prstGeom prst="rect">
            <a:avLst/>
          </a:prstGeom>
          <a:solidFill>
            <a:srgbClr val="F9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4544568"/>
            <a:ext cx="1645920" cy="274320"/>
          </a:xfrm>
          <a:prstGeom prst="rect">
            <a:avLst/>
          </a:prstGeom>
          <a:noFill/>
        </p:spPr>
        <p:txBody>
          <a:bodyPr wrap="square"/>
          <a:lstStyle/>
          <a:p>
            <a:pPr algn="l">
              <a:spcBef>
                <a:spcPts val="0"/>
              </a:spcBef>
              <a:spcAft>
                <a:spcPts val="0"/>
              </a:spcAft>
              <a:defRPr sz="900" b="1">
                <a:solidFill>
                  <a:srgbClr val="2C2825"/>
                </a:solidFill>
                <a:latin typeface="Calibri"/>
              </a:defRPr>
            </a:pPr>
            <a:r>
              <a:t>Simon Industries</a:t>
            </a:r>
          </a:p>
        </p:txBody>
      </p:sp>
      <p:sp>
        <p:nvSpPr>
          <p:cNvPr id="41" name="TextBox 40"/>
          <p:cNvSpPr txBox="1"/>
          <p:nvPr/>
        </p:nvSpPr>
        <p:spPr>
          <a:xfrm>
            <a:off x="8138160" y="4544568"/>
            <a:ext cx="1188720" cy="274320"/>
          </a:xfrm>
          <a:prstGeom prst="rect">
            <a:avLst/>
          </a:prstGeom>
          <a:noFill/>
        </p:spPr>
        <p:txBody>
          <a:bodyPr wrap="square"/>
          <a:lstStyle/>
          <a:p>
            <a:pPr algn="l">
              <a:spcBef>
                <a:spcPts val="0"/>
              </a:spcBef>
              <a:spcAft>
                <a:spcPts val="0"/>
              </a:spcAft>
              <a:defRPr sz="900" b="0">
                <a:solidFill>
                  <a:srgbClr val="6B655E"/>
                </a:solidFill>
                <a:latin typeface="Calibri"/>
              </a:defRPr>
            </a:pPr>
            <a:r>
              <a:t>HVAC</a:t>
            </a:r>
          </a:p>
        </p:txBody>
      </p:sp>
      <p:sp>
        <p:nvSpPr>
          <p:cNvPr id="42" name="TextBox 41"/>
          <p:cNvSpPr txBox="1"/>
          <p:nvPr/>
        </p:nvSpPr>
        <p:spPr>
          <a:xfrm>
            <a:off x="9326880" y="4544568"/>
            <a:ext cx="914400" cy="274320"/>
          </a:xfrm>
          <a:prstGeom prst="rect">
            <a:avLst/>
          </a:prstGeom>
          <a:noFill/>
        </p:spPr>
        <p:txBody>
          <a:bodyPr wrap="square"/>
          <a:lstStyle/>
          <a:p>
            <a:pPr algn="r">
              <a:spcBef>
                <a:spcPts val="0"/>
              </a:spcBef>
              <a:spcAft>
                <a:spcPts val="0"/>
              </a:spcAft>
              <a:defRPr sz="900" b="0">
                <a:solidFill>
                  <a:srgbClr val="2C2825"/>
                </a:solidFill>
                <a:latin typeface="Georgia"/>
              </a:defRPr>
            </a:pPr>
            <a:r>
              <a:t>$44,156</a:t>
            </a:r>
          </a:p>
        </p:txBody>
      </p:sp>
      <p:sp>
        <p:nvSpPr>
          <p:cNvPr id="43" name="TextBox 42"/>
          <p:cNvSpPr txBox="1"/>
          <p:nvPr/>
        </p:nvSpPr>
        <p:spPr>
          <a:xfrm>
            <a:off x="10332720" y="4544568"/>
            <a:ext cx="822960" cy="274320"/>
          </a:xfrm>
          <a:prstGeom prst="rect">
            <a:avLst/>
          </a:prstGeom>
          <a:noFill/>
        </p:spPr>
        <p:txBody>
          <a:bodyPr wrap="square"/>
          <a:lstStyle/>
          <a:p>
            <a:pPr algn="r">
              <a:spcBef>
                <a:spcPts val="0"/>
              </a:spcBef>
              <a:spcAft>
                <a:spcPts val="0"/>
              </a:spcAft>
              <a:defRPr sz="900" b="0">
                <a:solidFill>
                  <a:srgbClr val="C4893A"/>
                </a:solidFill>
                <a:latin typeface="Calibri"/>
              </a:defRPr>
            </a:pPr>
            <a:r>
              <a:t>$154/unit</a:t>
            </a:r>
          </a:p>
        </p:txBody>
      </p:sp>
      <p:sp>
        <p:nvSpPr>
          <p:cNvPr id="44" name="Rectangle 43"/>
          <p:cNvSpPr/>
          <p:nvPr/>
        </p:nvSpPr>
        <p:spPr>
          <a:xfrm>
            <a:off x="6400800" y="4937760"/>
            <a:ext cx="484632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92240" y="4983480"/>
            <a:ext cx="1645920" cy="274320"/>
          </a:xfrm>
          <a:prstGeom prst="rect">
            <a:avLst/>
          </a:prstGeom>
          <a:noFill/>
        </p:spPr>
        <p:txBody>
          <a:bodyPr wrap="square"/>
          <a:lstStyle/>
          <a:p>
            <a:pPr algn="l">
              <a:spcBef>
                <a:spcPts val="0"/>
              </a:spcBef>
              <a:spcAft>
                <a:spcPts val="0"/>
              </a:spcAft>
              <a:defRPr sz="900" b="1">
                <a:solidFill>
                  <a:srgbClr val="2C2825"/>
                </a:solidFill>
                <a:latin typeface="Calibri"/>
              </a:defRPr>
            </a:pPr>
            <a:r>
              <a:t>Dial-A-Bug</a:t>
            </a:r>
          </a:p>
        </p:txBody>
      </p:sp>
      <p:sp>
        <p:nvSpPr>
          <p:cNvPr id="46" name="TextBox 45"/>
          <p:cNvSpPr txBox="1"/>
          <p:nvPr/>
        </p:nvSpPr>
        <p:spPr>
          <a:xfrm>
            <a:off x="8138160" y="4983480"/>
            <a:ext cx="1188720" cy="274320"/>
          </a:xfrm>
          <a:prstGeom prst="rect">
            <a:avLst/>
          </a:prstGeom>
          <a:noFill/>
        </p:spPr>
        <p:txBody>
          <a:bodyPr wrap="square"/>
          <a:lstStyle/>
          <a:p>
            <a:pPr algn="l">
              <a:spcBef>
                <a:spcPts val="0"/>
              </a:spcBef>
              <a:spcAft>
                <a:spcPts val="0"/>
              </a:spcAft>
              <a:defRPr sz="900" b="0">
                <a:solidFill>
                  <a:srgbClr val="6B655E"/>
                </a:solidFill>
                <a:latin typeface="Calibri"/>
              </a:defRPr>
            </a:pPr>
            <a:r>
              <a:t>Pest Control</a:t>
            </a:r>
          </a:p>
        </p:txBody>
      </p:sp>
      <p:sp>
        <p:nvSpPr>
          <p:cNvPr id="47" name="TextBox 46"/>
          <p:cNvSpPr txBox="1"/>
          <p:nvPr/>
        </p:nvSpPr>
        <p:spPr>
          <a:xfrm>
            <a:off x="9326880" y="4983480"/>
            <a:ext cx="914400" cy="274320"/>
          </a:xfrm>
          <a:prstGeom prst="rect">
            <a:avLst/>
          </a:prstGeom>
          <a:noFill/>
        </p:spPr>
        <p:txBody>
          <a:bodyPr wrap="square"/>
          <a:lstStyle/>
          <a:p>
            <a:pPr algn="r">
              <a:spcBef>
                <a:spcPts val="0"/>
              </a:spcBef>
              <a:spcAft>
                <a:spcPts val="0"/>
              </a:spcAft>
              <a:defRPr sz="900" b="0">
                <a:solidFill>
                  <a:srgbClr val="2C2825"/>
                </a:solidFill>
                <a:latin typeface="Georgia"/>
              </a:defRPr>
            </a:pPr>
            <a:r>
              <a:t>$29,749</a:t>
            </a:r>
          </a:p>
        </p:txBody>
      </p:sp>
      <p:sp>
        <p:nvSpPr>
          <p:cNvPr id="48" name="TextBox 47"/>
          <p:cNvSpPr txBox="1"/>
          <p:nvPr/>
        </p:nvSpPr>
        <p:spPr>
          <a:xfrm>
            <a:off x="10332720" y="4983480"/>
            <a:ext cx="822960" cy="274320"/>
          </a:xfrm>
          <a:prstGeom prst="rect">
            <a:avLst/>
          </a:prstGeom>
          <a:noFill/>
        </p:spPr>
        <p:txBody>
          <a:bodyPr wrap="square"/>
          <a:lstStyle/>
          <a:p>
            <a:pPr algn="r">
              <a:spcBef>
                <a:spcPts val="0"/>
              </a:spcBef>
              <a:spcAft>
                <a:spcPts val="0"/>
              </a:spcAft>
              <a:defRPr sz="900" b="0">
                <a:solidFill>
                  <a:srgbClr val="C4893A"/>
                </a:solidFill>
                <a:latin typeface="Calibri"/>
              </a:defRPr>
            </a:pPr>
            <a:r>
              <a:t>$104/unit</a:t>
            </a:r>
          </a:p>
        </p:txBody>
      </p:sp>
      <p:sp>
        <p:nvSpPr>
          <p:cNvPr id="49" name="Rectangle 48"/>
          <p:cNvSpPr/>
          <p:nvPr/>
        </p:nvSpPr>
        <p:spPr>
          <a:xfrm>
            <a:off x="6400800" y="5376672"/>
            <a:ext cx="4846320" cy="384048"/>
          </a:xfrm>
          <a:prstGeom prst="rect">
            <a:avLst/>
          </a:prstGeom>
          <a:solidFill>
            <a:srgbClr val="F9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92240" y="5422392"/>
            <a:ext cx="1645920" cy="274320"/>
          </a:xfrm>
          <a:prstGeom prst="rect">
            <a:avLst/>
          </a:prstGeom>
          <a:noFill/>
        </p:spPr>
        <p:txBody>
          <a:bodyPr wrap="square"/>
          <a:lstStyle/>
          <a:p>
            <a:pPr algn="l">
              <a:spcBef>
                <a:spcPts val="0"/>
              </a:spcBef>
              <a:spcAft>
                <a:spcPts val="0"/>
              </a:spcAft>
              <a:defRPr sz="900" b="1">
                <a:solidFill>
                  <a:srgbClr val="2C2825"/>
                </a:solidFill>
                <a:latin typeface="Calibri"/>
              </a:defRPr>
            </a:pPr>
            <a:r>
              <a:t>PS Marcato Elevator</a:t>
            </a:r>
          </a:p>
        </p:txBody>
      </p:sp>
      <p:sp>
        <p:nvSpPr>
          <p:cNvPr id="51" name="TextBox 50"/>
          <p:cNvSpPr txBox="1"/>
          <p:nvPr/>
        </p:nvSpPr>
        <p:spPr>
          <a:xfrm>
            <a:off x="8138160" y="5422392"/>
            <a:ext cx="1188720" cy="274320"/>
          </a:xfrm>
          <a:prstGeom prst="rect">
            <a:avLst/>
          </a:prstGeom>
          <a:noFill/>
        </p:spPr>
        <p:txBody>
          <a:bodyPr wrap="square"/>
          <a:lstStyle/>
          <a:p>
            <a:pPr algn="l">
              <a:spcBef>
                <a:spcPts val="0"/>
              </a:spcBef>
              <a:spcAft>
                <a:spcPts val="0"/>
              </a:spcAft>
              <a:defRPr sz="900" b="0">
                <a:solidFill>
                  <a:srgbClr val="6B655E"/>
                </a:solidFill>
                <a:latin typeface="Calibri"/>
              </a:defRPr>
            </a:pPr>
            <a:r>
              <a:t>Elevator</a:t>
            </a:r>
          </a:p>
        </p:txBody>
      </p:sp>
      <p:sp>
        <p:nvSpPr>
          <p:cNvPr id="52" name="TextBox 51"/>
          <p:cNvSpPr txBox="1"/>
          <p:nvPr/>
        </p:nvSpPr>
        <p:spPr>
          <a:xfrm>
            <a:off x="9326880" y="5422392"/>
            <a:ext cx="914400" cy="274320"/>
          </a:xfrm>
          <a:prstGeom prst="rect">
            <a:avLst/>
          </a:prstGeom>
          <a:noFill/>
        </p:spPr>
        <p:txBody>
          <a:bodyPr wrap="square"/>
          <a:lstStyle/>
          <a:p>
            <a:pPr algn="r">
              <a:spcBef>
                <a:spcPts val="0"/>
              </a:spcBef>
              <a:spcAft>
                <a:spcPts val="0"/>
              </a:spcAft>
              <a:defRPr sz="900" b="0">
                <a:solidFill>
                  <a:srgbClr val="2C2825"/>
                </a:solidFill>
                <a:latin typeface="Georgia"/>
              </a:defRPr>
            </a:pPr>
            <a:r>
              <a:t>$23,369</a:t>
            </a:r>
          </a:p>
        </p:txBody>
      </p:sp>
      <p:sp>
        <p:nvSpPr>
          <p:cNvPr id="53" name="TextBox 52"/>
          <p:cNvSpPr txBox="1"/>
          <p:nvPr/>
        </p:nvSpPr>
        <p:spPr>
          <a:xfrm>
            <a:off x="10332720" y="5422392"/>
            <a:ext cx="822960" cy="274320"/>
          </a:xfrm>
          <a:prstGeom prst="rect">
            <a:avLst/>
          </a:prstGeom>
          <a:noFill/>
        </p:spPr>
        <p:txBody>
          <a:bodyPr wrap="square"/>
          <a:lstStyle/>
          <a:p>
            <a:pPr algn="r">
              <a:spcBef>
                <a:spcPts val="0"/>
              </a:spcBef>
              <a:spcAft>
                <a:spcPts val="0"/>
              </a:spcAft>
              <a:defRPr sz="900" b="0">
                <a:solidFill>
                  <a:srgbClr val="C4893A"/>
                </a:solidFill>
                <a:latin typeface="Calibri"/>
              </a:defRPr>
            </a:pPr>
            <a:r>
              <a:t>$81/unit</a:t>
            </a:r>
          </a:p>
        </p:txBody>
      </p:sp>
      <p:sp>
        <p:nvSpPr>
          <p:cNvPr id="54" name="TextBox 53"/>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457200"/>
            <a:ext cx="3657600" cy="365760"/>
          </a:xfrm>
          <a:prstGeom prst="rect">
            <a:avLst/>
          </a:prstGeom>
          <a:noFill/>
        </p:spPr>
        <p:txBody>
          <a:bodyPr wrap="square"/>
          <a:lstStyle/>
          <a:p>
            <a:pPr algn="l">
              <a:spcBef>
                <a:spcPts val="0"/>
              </a:spcBef>
              <a:spcAft>
                <a:spcPts val="0"/>
              </a:spcAft>
              <a:defRPr sz="1200" b="1">
                <a:solidFill>
                  <a:srgbClr val="C4893A"/>
                </a:solidFill>
                <a:latin typeface="Calibri"/>
              </a:defRPr>
            </a:pPr>
            <a:r>
              <a:t>WHAT’S INCLUDED</a:t>
            </a:r>
          </a:p>
        </p:txBody>
      </p:sp>
      <p:sp>
        <p:nvSpPr>
          <p:cNvPr id="3" name="TextBox 2"/>
          <p:cNvSpPr txBox="1"/>
          <p:nvPr/>
        </p:nvSpPr>
        <p:spPr>
          <a:xfrm>
            <a:off x="731520" y="822960"/>
            <a:ext cx="10058400" cy="640080"/>
          </a:xfrm>
          <a:prstGeom prst="rect">
            <a:avLst/>
          </a:prstGeom>
          <a:noFill/>
        </p:spPr>
        <p:txBody>
          <a:bodyPr wrap="square"/>
          <a:lstStyle/>
          <a:p>
            <a:pPr algn="l">
              <a:spcBef>
                <a:spcPts val="0"/>
              </a:spcBef>
              <a:spcAft>
                <a:spcPts val="0"/>
              </a:spcAft>
              <a:defRPr sz="3200" b="1">
                <a:solidFill>
                  <a:srgbClr val="2C2825"/>
                </a:solidFill>
                <a:latin typeface="Georgia"/>
              </a:defRPr>
            </a:pPr>
            <a:r>
              <a:t>Everything Your Board Needs</a:t>
            </a:r>
          </a:p>
        </p:txBody>
      </p:sp>
      <p:sp>
        <p:nvSpPr>
          <p:cNvPr id="4" name="TextBox 3"/>
          <p:cNvSpPr txBox="1"/>
          <p:nvPr/>
        </p:nvSpPr>
        <p:spPr>
          <a:xfrm>
            <a:off x="731520" y="1463040"/>
            <a:ext cx="9144000" cy="457200"/>
          </a:xfrm>
          <a:prstGeom prst="rect">
            <a:avLst/>
          </a:prstGeom>
          <a:noFill/>
        </p:spPr>
        <p:txBody>
          <a:bodyPr wrap="square"/>
          <a:lstStyle/>
          <a:p>
            <a:pPr algn="l">
              <a:spcBef>
                <a:spcPts val="0"/>
              </a:spcBef>
              <a:spcAft>
                <a:spcPts val="0"/>
              </a:spcAft>
              <a:defRPr sz="1400" b="0">
                <a:solidFill>
                  <a:srgbClr val="6B655E"/>
                </a:solidFill>
                <a:latin typeface="Calibri"/>
              </a:defRPr>
            </a:pPr>
            <a:r>
              <a:t>Start free. Upgrade when you’re ready to unlock benchmarking, savings analysis, and priority bidding.</a:t>
            </a:r>
          </a:p>
        </p:txBody>
      </p:sp>
      <p:sp>
        <p:nvSpPr>
          <p:cNvPr id="5" name="Rectangle 4"/>
          <p:cNvSpPr/>
          <p:nvPr/>
        </p:nvSpPr>
        <p:spPr>
          <a:xfrm>
            <a:off x="731520" y="2103120"/>
            <a:ext cx="5029200" cy="3657600"/>
          </a:xfrm>
          <a:prstGeom prst="rect">
            <a:avLst/>
          </a:prstGeom>
          <a:solidFill>
            <a:srgbClr val="FFFFFF"/>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103120"/>
            <a:ext cx="5029200" cy="731520"/>
          </a:xfrm>
          <a:prstGeom prst="rect">
            <a:avLst/>
          </a:prstGeom>
          <a:solidFill>
            <a:srgbClr val="F9F7F3"/>
          </a:solidFill>
          <a:ln w="12700">
            <a:solidFill>
              <a:srgbClr val="E5E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94560"/>
            <a:ext cx="5029200" cy="320040"/>
          </a:xfrm>
          <a:prstGeom prst="rect">
            <a:avLst/>
          </a:prstGeom>
          <a:noFill/>
        </p:spPr>
        <p:txBody>
          <a:bodyPr wrap="square"/>
          <a:lstStyle/>
          <a:p>
            <a:pPr algn="ctr">
              <a:spcBef>
                <a:spcPts val="0"/>
              </a:spcBef>
              <a:spcAft>
                <a:spcPts val="0"/>
              </a:spcAft>
              <a:defRPr sz="1800" b="1">
                <a:solidFill>
                  <a:srgbClr val="2C2825"/>
                </a:solidFill>
                <a:latin typeface="Georgia"/>
              </a:defRPr>
            </a:pPr>
            <a:r>
              <a:t>Free for Every Board</a:t>
            </a:r>
          </a:p>
        </p:txBody>
      </p:sp>
      <p:sp>
        <p:nvSpPr>
          <p:cNvPr id="8" name="TextBox 7"/>
          <p:cNvSpPr txBox="1"/>
          <p:nvPr/>
        </p:nvSpPr>
        <p:spPr>
          <a:xfrm>
            <a:off x="731520" y="2542032"/>
            <a:ext cx="5029200" cy="228600"/>
          </a:xfrm>
          <a:prstGeom prst="rect">
            <a:avLst/>
          </a:prstGeom>
          <a:noFill/>
        </p:spPr>
        <p:txBody>
          <a:bodyPr wrap="square"/>
          <a:lstStyle/>
          <a:p>
            <a:pPr algn="ctr">
              <a:spcBef>
                <a:spcPts val="0"/>
              </a:spcBef>
              <a:spcAft>
                <a:spcPts val="0"/>
              </a:spcAft>
              <a:defRPr sz="1100" b="1">
                <a:solidFill>
                  <a:srgbClr val="1A7A4A"/>
                </a:solidFill>
                <a:latin typeface="Calibri"/>
              </a:defRPr>
            </a:pPr>
            <a:r>
              <a:t>No credit card required</a:t>
            </a:r>
          </a:p>
        </p:txBody>
      </p:sp>
      <p:sp>
        <p:nvSpPr>
          <p:cNvPr id="9" name="TextBox 8"/>
          <p:cNvSpPr txBox="1"/>
          <p:nvPr/>
        </p:nvSpPr>
        <p:spPr>
          <a:xfrm>
            <a:off x="1463040" y="3063240"/>
            <a:ext cx="3840480" cy="320040"/>
          </a:xfrm>
          <a:prstGeom prst="rect">
            <a:avLst/>
          </a:prstGeom>
          <a:noFill/>
        </p:spPr>
        <p:txBody>
          <a:bodyPr wrap="square"/>
          <a:lstStyle/>
          <a:p>
            <a:pPr algn="l">
              <a:spcBef>
                <a:spcPts val="0"/>
              </a:spcBef>
              <a:spcAft>
                <a:spcPts val="0"/>
              </a:spcAft>
              <a:defRPr sz="1200" b="0">
                <a:solidFill>
                  <a:srgbClr val="2C2825"/>
                </a:solidFill>
                <a:latin typeface="Calibri"/>
              </a:defRPr>
            </a:pPr>
            <a:r>
              <a:t>Compliance calendar with all NYC deadlines</a:t>
            </a:r>
          </a:p>
        </p:txBody>
      </p:sp>
      <p:sp>
        <p:nvSpPr>
          <p:cNvPr id="10" name="Oval 9"/>
          <p:cNvSpPr/>
          <p:nvPr/>
        </p:nvSpPr>
        <p:spPr>
          <a:xfrm>
            <a:off x="1234440" y="3136392"/>
            <a:ext cx="109728" cy="109728"/>
          </a:xfrm>
          <a:prstGeom prst="ellipse">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40" y="3474720"/>
            <a:ext cx="3840480" cy="320040"/>
          </a:xfrm>
          <a:prstGeom prst="rect">
            <a:avLst/>
          </a:prstGeom>
          <a:noFill/>
        </p:spPr>
        <p:txBody>
          <a:bodyPr wrap="square"/>
          <a:lstStyle/>
          <a:p>
            <a:pPr algn="l">
              <a:spcBef>
                <a:spcPts val="0"/>
              </a:spcBef>
              <a:spcAft>
                <a:spcPts val="0"/>
              </a:spcAft>
              <a:defRPr sz="1200" b="0">
                <a:solidFill>
                  <a:srgbClr val="2C2825"/>
                </a:solidFill>
                <a:latin typeface="Calibri"/>
              </a:defRPr>
            </a:pPr>
            <a:r>
              <a:t>Access to pre-vetted vendor directory</a:t>
            </a:r>
          </a:p>
        </p:txBody>
      </p:sp>
      <p:sp>
        <p:nvSpPr>
          <p:cNvPr id="12" name="Oval 11"/>
          <p:cNvSpPr/>
          <p:nvPr/>
        </p:nvSpPr>
        <p:spPr>
          <a:xfrm>
            <a:off x="1234440" y="3547872"/>
            <a:ext cx="109728" cy="109728"/>
          </a:xfrm>
          <a:prstGeom prst="ellipse">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3886200"/>
            <a:ext cx="3840480" cy="320040"/>
          </a:xfrm>
          <a:prstGeom prst="rect">
            <a:avLst/>
          </a:prstGeom>
          <a:noFill/>
        </p:spPr>
        <p:txBody>
          <a:bodyPr wrap="square"/>
          <a:lstStyle/>
          <a:p>
            <a:pPr algn="l">
              <a:spcBef>
                <a:spcPts val="0"/>
              </a:spcBef>
              <a:spcAft>
                <a:spcPts val="0"/>
              </a:spcAft>
              <a:defRPr sz="1200" b="0">
                <a:solidFill>
                  <a:srgbClr val="2C2825"/>
                </a:solidFill>
                <a:latin typeface="Calibri"/>
              </a:defRPr>
            </a:pPr>
            <a:r>
              <a:t>View bid requests from your management co.</a:t>
            </a:r>
          </a:p>
        </p:txBody>
      </p:sp>
      <p:sp>
        <p:nvSpPr>
          <p:cNvPr id="14" name="Oval 13"/>
          <p:cNvSpPr/>
          <p:nvPr/>
        </p:nvSpPr>
        <p:spPr>
          <a:xfrm>
            <a:off x="1234440" y="3959352"/>
            <a:ext cx="109728" cy="109728"/>
          </a:xfrm>
          <a:prstGeom prst="ellipse">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4297680"/>
            <a:ext cx="3840480" cy="320040"/>
          </a:xfrm>
          <a:prstGeom prst="rect">
            <a:avLst/>
          </a:prstGeom>
          <a:noFill/>
        </p:spPr>
        <p:txBody>
          <a:bodyPr wrap="square"/>
          <a:lstStyle/>
          <a:p>
            <a:pPr algn="l">
              <a:spcBef>
                <a:spcPts val="0"/>
              </a:spcBef>
              <a:spcAft>
                <a:spcPts val="0"/>
              </a:spcAft>
              <a:defRPr sz="1200" b="0">
                <a:solidFill>
                  <a:srgbClr val="2C2825"/>
                </a:solidFill>
                <a:latin typeface="Calibri"/>
              </a:defRPr>
            </a:pPr>
            <a:r>
              <a:t>Building profile with unit and address data</a:t>
            </a:r>
          </a:p>
        </p:txBody>
      </p:sp>
      <p:sp>
        <p:nvSpPr>
          <p:cNvPr id="16" name="Oval 15"/>
          <p:cNvSpPr/>
          <p:nvPr/>
        </p:nvSpPr>
        <p:spPr>
          <a:xfrm>
            <a:off x="1234440" y="4370832"/>
            <a:ext cx="109728" cy="109728"/>
          </a:xfrm>
          <a:prstGeom prst="ellipse">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63040" y="4709160"/>
            <a:ext cx="3840480" cy="320040"/>
          </a:xfrm>
          <a:prstGeom prst="rect">
            <a:avLst/>
          </a:prstGeom>
          <a:noFill/>
        </p:spPr>
        <p:txBody>
          <a:bodyPr wrap="square"/>
          <a:lstStyle/>
          <a:p>
            <a:pPr algn="l">
              <a:spcBef>
                <a:spcPts val="0"/>
              </a:spcBef>
              <a:spcAft>
                <a:spcPts val="0"/>
              </a:spcAft>
              <a:defRPr sz="1200" b="0">
                <a:solidFill>
                  <a:srgbClr val="2C2825"/>
                </a:solidFill>
                <a:latin typeface="Calibri"/>
              </a:defRPr>
            </a:pPr>
            <a:r>
              <a:t>Deadline reminders and penalty alerts</a:t>
            </a:r>
          </a:p>
        </p:txBody>
      </p:sp>
      <p:sp>
        <p:nvSpPr>
          <p:cNvPr id="18" name="Oval 17"/>
          <p:cNvSpPr/>
          <p:nvPr/>
        </p:nvSpPr>
        <p:spPr>
          <a:xfrm>
            <a:off x="1234440" y="4782312"/>
            <a:ext cx="109728" cy="109728"/>
          </a:xfrm>
          <a:prstGeom prst="ellipse">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103120"/>
            <a:ext cx="5212080" cy="3657600"/>
          </a:xfrm>
          <a:prstGeom prst="rect">
            <a:avLst/>
          </a:prstGeom>
          <a:solidFill>
            <a:srgbClr val="FFFFFF"/>
          </a:solidFill>
          <a:ln w="12700">
            <a:solidFill>
              <a:srgbClr val="C489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103120"/>
            <a:ext cx="5212080" cy="73152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2194560"/>
            <a:ext cx="5212080" cy="320040"/>
          </a:xfrm>
          <a:prstGeom prst="rect">
            <a:avLst/>
          </a:prstGeom>
          <a:noFill/>
        </p:spPr>
        <p:txBody>
          <a:bodyPr wrap="square"/>
          <a:lstStyle/>
          <a:p>
            <a:pPr algn="ctr">
              <a:spcBef>
                <a:spcPts val="0"/>
              </a:spcBef>
              <a:spcAft>
                <a:spcPts val="0"/>
              </a:spcAft>
              <a:defRPr sz="1800" b="1">
                <a:solidFill>
                  <a:srgbClr val="FFFFFF"/>
                </a:solidFill>
                <a:latin typeface="Georgia"/>
              </a:defRPr>
            </a:pPr>
            <a:r>
              <a:t>Premium</a:t>
            </a:r>
          </a:p>
        </p:txBody>
      </p:sp>
      <p:sp>
        <p:nvSpPr>
          <p:cNvPr id="22" name="TextBox 21"/>
          <p:cNvSpPr txBox="1"/>
          <p:nvPr/>
        </p:nvSpPr>
        <p:spPr>
          <a:xfrm>
            <a:off x="6217920" y="2542032"/>
            <a:ext cx="5212080" cy="228600"/>
          </a:xfrm>
          <a:prstGeom prst="rect">
            <a:avLst/>
          </a:prstGeom>
          <a:noFill/>
        </p:spPr>
        <p:txBody>
          <a:bodyPr wrap="square"/>
          <a:lstStyle/>
          <a:p>
            <a:pPr algn="ctr">
              <a:spcBef>
                <a:spcPts val="0"/>
              </a:spcBef>
              <a:spcAft>
                <a:spcPts val="0"/>
              </a:spcAft>
              <a:defRPr sz="1100" b="1">
                <a:solidFill>
                  <a:srgbClr val="C4893A"/>
                </a:solidFill>
                <a:latin typeface="Calibri"/>
              </a:defRPr>
            </a:pPr>
            <a:r>
              <a:t>$49/month per building</a:t>
            </a:r>
          </a:p>
        </p:txBody>
      </p:sp>
      <p:sp>
        <p:nvSpPr>
          <p:cNvPr id="23" name="TextBox 22"/>
          <p:cNvSpPr txBox="1"/>
          <p:nvPr/>
        </p:nvSpPr>
        <p:spPr>
          <a:xfrm>
            <a:off x="6720840" y="3063240"/>
            <a:ext cx="4297680" cy="320040"/>
          </a:xfrm>
          <a:prstGeom prst="rect">
            <a:avLst/>
          </a:prstGeom>
          <a:noFill/>
        </p:spPr>
        <p:txBody>
          <a:bodyPr wrap="square"/>
          <a:lstStyle/>
          <a:p>
            <a:pPr algn="l">
              <a:spcBef>
                <a:spcPts val="0"/>
              </a:spcBef>
              <a:spcAft>
                <a:spcPts val="0"/>
              </a:spcAft>
              <a:defRPr sz="1200" b="0">
                <a:solidFill>
                  <a:srgbClr val="2C2825"/>
                </a:solidFill>
                <a:latin typeface="Calibri"/>
              </a:defRPr>
            </a:pPr>
            <a:r>
              <a:t>Cost benchmarking vs. peer buildings</a:t>
            </a:r>
          </a:p>
        </p:txBody>
      </p:sp>
      <p:sp>
        <p:nvSpPr>
          <p:cNvPr id="24" name="Oval 23"/>
          <p:cNvSpPr/>
          <p:nvPr/>
        </p:nvSpPr>
        <p:spPr>
          <a:xfrm>
            <a:off x="6492240" y="3136392"/>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3410712"/>
            <a:ext cx="4297680" cy="320040"/>
          </a:xfrm>
          <a:prstGeom prst="rect">
            <a:avLst/>
          </a:prstGeom>
          <a:noFill/>
        </p:spPr>
        <p:txBody>
          <a:bodyPr wrap="square"/>
          <a:lstStyle/>
          <a:p>
            <a:pPr algn="l">
              <a:spcBef>
                <a:spcPts val="0"/>
              </a:spcBef>
              <a:spcAft>
                <a:spcPts val="0"/>
              </a:spcAft>
              <a:defRPr sz="1200" b="0">
                <a:solidFill>
                  <a:srgbClr val="2C2825"/>
                </a:solidFill>
                <a:latin typeface="Calibri"/>
              </a:defRPr>
            </a:pPr>
            <a:r>
              <a:t>Savings opportunity identification</a:t>
            </a:r>
          </a:p>
        </p:txBody>
      </p:sp>
      <p:sp>
        <p:nvSpPr>
          <p:cNvPr id="26" name="Oval 25"/>
          <p:cNvSpPr/>
          <p:nvPr/>
        </p:nvSpPr>
        <p:spPr>
          <a:xfrm>
            <a:off x="6492240" y="348386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3758184"/>
            <a:ext cx="4297680" cy="320040"/>
          </a:xfrm>
          <a:prstGeom prst="rect">
            <a:avLst/>
          </a:prstGeom>
          <a:noFill/>
        </p:spPr>
        <p:txBody>
          <a:bodyPr wrap="square"/>
          <a:lstStyle/>
          <a:p>
            <a:pPr algn="l">
              <a:spcBef>
                <a:spcPts val="0"/>
              </a:spcBef>
              <a:spcAft>
                <a:spcPts val="0"/>
              </a:spcAft>
              <a:defRPr sz="1200" b="0">
                <a:solidFill>
                  <a:srgbClr val="2C2825"/>
                </a:solidFill>
                <a:latin typeface="Calibri"/>
              </a:defRPr>
            </a:pPr>
            <a:r>
              <a:t>Contract tracking with expiration alerts</a:t>
            </a:r>
          </a:p>
        </p:txBody>
      </p:sp>
      <p:sp>
        <p:nvSpPr>
          <p:cNvPr id="28" name="Oval 27"/>
          <p:cNvSpPr/>
          <p:nvPr/>
        </p:nvSpPr>
        <p:spPr>
          <a:xfrm>
            <a:off x="6492240" y="3831336"/>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4105656"/>
            <a:ext cx="4297680" cy="320040"/>
          </a:xfrm>
          <a:prstGeom prst="rect">
            <a:avLst/>
          </a:prstGeom>
          <a:noFill/>
        </p:spPr>
        <p:txBody>
          <a:bodyPr wrap="square"/>
          <a:lstStyle/>
          <a:p>
            <a:pPr algn="l">
              <a:spcBef>
                <a:spcPts val="0"/>
              </a:spcBef>
              <a:spcAft>
                <a:spcPts val="0"/>
              </a:spcAft>
              <a:defRPr sz="1200" b="0">
                <a:solidFill>
                  <a:srgbClr val="2C2825"/>
                </a:solidFill>
                <a:latin typeface="Calibri"/>
              </a:defRPr>
            </a:pPr>
            <a:r>
              <a:t>AI-powered invoice analysis</a:t>
            </a:r>
          </a:p>
        </p:txBody>
      </p:sp>
      <p:sp>
        <p:nvSpPr>
          <p:cNvPr id="30" name="Oval 29"/>
          <p:cNvSpPr/>
          <p:nvPr/>
        </p:nvSpPr>
        <p:spPr>
          <a:xfrm>
            <a:off x="6492240" y="4178808"/>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4453128"/>
            <a:ext cx="4297680" cy="320040"/>
          </a:xfrm>
          <a:prstGeom prst="rect">
            <a:avLst/>
          </a:prstGeom>
          <a:noFill/>
        </p:spPr>
        <p:txBody>
          <a:bodyPr wrap="square"/>
          <a:lstStyle/>
          <a:p>
            <a:pPr algn="l">
              <a:spcBef>
                <a:spcPts val="0"/>
              </a:spcBef>
              <a:spcAft>
                <a:spcPts val="0"/>
              </a:spcAft>
              <a:defRPr sz="1200" b="0">
                <a:solidFill>
                  <a:srgbClr val="2C2825"/>
                </a:solidFill>
                <a:latin typeface="Calibri"/>
              </a:defRPr>
            </a:pPr>
            <a:r>
              <a:t>Priority access to BidBoard vendors</a:t>
            </a:r>
          </a:p>
        </p:txBody>
      </p:sp>
      <p:sp>
        <p:nvSpPr>
          <p:cNvPr id="32" name="Oval 31"/>
          <p:cNvSpPr/>
          <p:nvPr/>
        </p:nvSpPr>
        <p:spPr>
          <a:xfrm>
            <a:off x="6492240" y="4526280"/>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4800600"/>
            <a:ext cx="4297680" cy="320040"/>
          </a:xfrm>
          <a:prstGeom prst="rect">
            <a:avLst/>
          </a:prstGeom>
          <a:noFill/>
        </p:spPr>
        <p:txBody>
          <a:bodyPr wrap="square"/>
          <a:lstStyle/>
          <a:p>
            <a:pPr algn="l">
              <a:spcBef>
                <a:spcPts val="0"/>
              </a:spcBef>
              <a:spcAft>
                <a:spcPts val="0"/>
              </a:spcAft>
              <a:defRPr sz="1200" b="0">
                <a:solidFill>
                  <a:srgbClr val="2C2825"/>
                </a:solidFill>
                <a:latin typeface="Calibri"/>
              </a:defRPr>
            </a:pPr>
            <a:r>
              <a:t>Historical spend analytics</a:t>
            </a:r>
          </a:p>
        </p:txBody>
      </p:sp>
      <p:sp>
        <p:nvSpPr>
          <p:cNvPr id="34" name="Oval 33"/>
          <p:cNvSpPr/>
          <p:nvPr/>
        </p:nvSpPr>
        <p:spPr>
          <a:xfrm>
            <a:off x="6492240" y="4873752"/>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20840" y="5148072"/>
            <a:ext cx="4297680" cy="320040"/>
          </a:xfrm>
          <a:prstGeom prst="rect">
            <a:avLst/>
          </a:prstGeom>
          <a:noFill/>
        </p:spPr>
        <p:txBody>
          <a:bodyPr wrap="square"/>
          <a:lstStyle/>
          <a:p>
            <a:pPr algn="l">
              <a:spcBef>
                <a:spcPts val="0"/>
              </a:spcBef>
              <a:spcAft>
                <a:spcPts val="0"/>
              </a:spcAft>
              <a:defRPr sz="1200" b="0">
                <a:solidFill>
                  <a:srgbClr val="2C2825"/>
                </a:solidFill>
                <a:latin typeface="Calibri"/>
              </a:defRPr>
            </a:pPr>
            <a:r>
              <a:t>Vendor insurance and license verification</a:t>
            </a:r>
          </a:p>
        </p:txBody>
      </p:sp>
      <p:sp>
        <p:nvSpPr>
          <p:cNvPr id="36" name="Oval 35"/>
          <p:cNvSpPr/>
          <p:nvPr/>
        </p:nvSpPr>
        <p:spPr>
          <a:xfrm>
            <a:off x="6492240" y="5221224"/>
            <a:ext cx="109728" cy="109728"/>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5989320"/>
            <a:ext cx="10698480" cy="640080"/>
          </a:xfrm>
          <a:prstGeom prst="rect">
            <a:avLst/>
          </a:prstGeom>
          <a:solidFill>
            <a:srgbClr val="2C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5989320"/>
            <a:ext cx="10698480" cy="381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71600" y="6035040"/>
            <a:ext cx="2286000" cy="320040"/>
          </a:xfrm>
          <a:prstGeom prst="rect">
            <a:avLst/>
          </a:prstGeom>
          <a:noFill/>
        </p:spPr>
        <p:txBody>
          <a:bodyPr wrap="square"/>
          <a:lstStyle/>
          <a:p>
            <a:pPr algn="l">
              <a:spcBef>
                <a:spcPts val="0"/>
              </a:spcBef>
              <a:spcAft>
                <a:spcPts val="0"/>
              </a:spcAft>
              <a:defRPr sz="2000" b="1">
                <a:solidFill>
                  <a:srgbClr val="C4893A"/>
                </a:solidFill>
                <a:latin typeface="Georgia"/>
              </a:defRPr>
            </a:pPr>
            <a:r>
              <a:t>$49/mo</a:t>
            </a:r>
          </a:p>
        </p:txBody>
      </p:sp>
      <p:sp>
        <p:nvSpPr>
          <p:cNvPr id="40" name="TextBox 39"/>
          <p:cNvSpPr txBox="1"/>
          <p:nvPr/>
        </p:nvSpPr>
        <p:spPr>
          <a:xfrm>
            <a:off x="3200400" y="6099048"/>
            <a:ext cx="1371600" cy="228600"/>
          </a:xfrm>
          <a:prstGeom prst="rect">
            <a:avLst/>
          </a:prstGeom>
          <a:noFill/>
        </p:spPr>
        <p:txBody>
          <a:bodyPr wrap="square"/>
          <a:lstStyle/>
          <a:p>
            <a:pPr algn="l">
              <a:spcBef>
                <a:spcPts val="0"/>
              </a:spcBef>
              <a:spcAft>
                <a:spcPts val="0"/>
              </a:spcAft>
              <a:defRPr sz="1100" b="0">
                <a:solidFill>
                  <a:srgbClr val="8C857B"/>
                </a:solidFill>
                <a:latin typeface="Calibri"/>
              </a:defRPr>
            </a:pPr>
            <a:r>
              <a:t>Your cost</a:t>
            </a:r>
          </a:p>
        </p:txBody>
      </p:sp>
      <p:sp>
        <p:nvSpPr>
          <p:cNvPr id="41" name="TextBox 40"/>
          <p:cNvSpPr txBox="1"/>
          <p:nvPr/>
        </p:nvSpPr>
        <p:spPr>
          <a:xfrm>
            <a:off x="4663440" y="6035040"/>
            <a:ext cx="2286000" cy="320040"/>
          </a:xfrm>
          <a:prstGeom prst="rect">
            <a:avLst/>
          </a:prstGeom>
          <a:noFill/>
        </p:spPr>
        <p:txBody>
          <a:bodyPr wrap="square"/>
          <a:lstStyle/>
          <a:p>
            <a:pPr algn="l">
              <a:spcBef>
                <a:spcPts val="0"/>
              </a:spcBef>
              <a:spcAft>
                <a:spcPts val="0"/>
              </a:spcAft>
              <a:defRPr sz="2000" b="1">
                <a:solidFill>
                  <a:srgbClr val="C4893A"/>
                </a:solidFill>
                <a:latin typeface="Georgia"/>
              </a:defRPr>
            </a:pPr>
            <a:r>
              <a:t>$49,371/yr</a:t>
            </a:r>
          </a:p>
        </p:txBody>
      </p:sp>
      <p:sp>
        <p:nvSpPr>
          <p:cNvPr id="42" name="TextBox 41"/>
          <p:cNvSpPr txBox="1"/>
          <p:nvPr/>
        </p:nvSpPr>
        <p:spPr>
          <a:xfrm>
            <a:off x="6492240" y="6099048"/>
            <a:ext cx="1371600" cy="228600"/>
          </a:xfrm>
          <a:prstGeom prst="rect">
            <a:avLst/>
          </a:prstGeom>
          <a:noFill/>
        </p:spPr>
        <p:txBody>
          <a:bodyPr wrap="square"/>
          <a:lstStyle/>
          <a:p>
            <a:pPr algn="l">
              <a:spcBef>
                <a:spcPts val="0"/>
              </a:spcBef>
              <a:spcAft>
                <a:spcPts val="0"/>
              </a:spcAft>
              <a:defRPr sz="1100" b="0">
                <a:solidFill>
                  <a:srgbClr val="8C857B"/>
                </a:solidFill>
                <a:latin typeface="Calibri"/>
              </a:defRPr>
            </a:pPr>
            <a:r>
              <a:t>Avg. savings identified</a:t>
            </a:r>
          </a:p>
        </p:txBody>
      </p:sp>
      <p:sp>
        <p:nvSpPr>
          <p:cNvPr id="43" name="TextBox 42"/>
          <p:cNvSpPr txBox="1"/>
          <p:nvPr/>
        </p:nvSpPr>
        <p:spPr>
          <a:xfrm>
            <a:off x="7955280" y="6035040"/>
            <a:ext cx="2286000" cy="320040"/>
          </a:xfrm>
          <a:prstGeom prst="rect">
            <a:avLst/>
          </a:prstGeom>
          <a:noFill/>
        </p:spPr>
        <p:txBody>
          <a:bodyPr wrap="square"/>
          <a:lstStyle/>
          <a:p>
            <a:pPr algn="l">
              <a:spcBef>
                <a:spcPts val="0"/>
              </a:spcBef>
              <a:spcAft>
                <a:spcPts val="0"/>
              </a:spcAft>
              <a:defRPr sz="2000" b="1">
                <a:solidFill>
                  <a:srgbClr val="C4893A"/>
                </a:solidFill>
                <a:latin typeface="Georgia"/>
              </a:defRPr>
            </a:pPr>
            <a:r>
              <a:t>84x</a:t>
            </a:r>
          </a:p>
        </p:txBody>
      </p:sp>
      <p:sp>
        <p:nvSpPr>
          <p:cNvPr id="44" name="TextBox 43"/>
          <p:cNvSpPr txBox="1"/>
          <p:nvPr/>
        </p:nvSpPr>
        <p:spPr>
          <a:xfrm>
            <a:off x="9784080" y="6099048"/>
            <a:ext cx="1371600" cy="228600"/>
          </a:xfrm>
          <a:prstGeom prst="rect">
            <a:avLst/>
          </a:prstGeom>
          <a:noFill/>
        </p:spPr>
        <p:txBody>
          <a:bodyPr wrap="square"/>
          <a:lstStyle/>
          <a:p>
            <a:pPr algn="l">
              <a:spcBef>
                <a:spcPts val="0"/>
              </a:spcBef>
              <a:spcAft>
                <a:spcPts val="0"/>
              </a:spcAft>
              <a:defRPr sz="1100" b="0">
                <a:solidFill>
                  <a:srgbClr val="8C857B"/>
                </a:solidFill>
                <a:latin typeface="Calibri"/>
              </a:defRPr>
            </a:pPr>
            <a:r>
              <a:t>Return on investment</a:t>
            </a:r>
          </a:p>
        </p:txBody>
      </p:sp>
      <p:sp>
        <p:nvSpPr>
          <p:cNvPr id="45" name="TextBox 44"/>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C2825"/>
        </a:solidFill>
        <a:effectLst/>
      </p:bgPr>
    </p:bg>
    <p:spTree>
      <p:nvGrpSpPr>
        <p:cNvPr id="1" name=""/>
        <p:cNvGrpSpPr/>
        <p:nvPr/>
      </p:nvGrpSpPr>
      <p:grpSpPr/>
      <p:sp>
        <p:nvSpPr>
          <p:cNvPr id="2" name="Rectangle 1"/>
          <p:cNvSpPr/>
          <p:nvPr/>
        </p:nvSpPr>
        <p:spPr>
          <a:xfrm>
            <a:off x="1097280" y="1371600"/>
            <a:ext cx="1828800" cy="3810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144000" cy="1097280"/>
          </a:xfrm>
          <a:prstGeom prst="rect">
            <a:avLst/>
          </a:prstGeom>
          <a:noFill/>
        </p:spPr>
        <p:txBody>
          <a:bodyPr wrap="square"/>
          <a:lstStyle/>
          <a:p>
            <a:pPr algn="l">
              <a:spcBef>
                <a:spcPts val="0"/>
              </a:spcBef>
              <a:spcAft>
                <a:spcPts val="0"/>
              </a:spcAft>
              <a:defRPr sz="3800" b="1">
                <a:solidFill>
                  <a:srgbClr val="FFFFFF"/>
                </a:solidFill>
                <a:latin typeface="Georgia"/>
              </a:defRPr>
            </a:pPr>
            <a:r>
              <a:t>Ready to Take Control</a:t>
            </a:r>
            <a:br/>
            <a:r>
              <a:t>of Your Building’s Future?</a:t>
            </a:r>
          </a:p>
        </p:txBody>
      </p:sp>
      <p:sp>
        <p:nvSpPr>
          <p:cNvPr id="4" name="TextBox 3"/>
          <p:cNvSpPr txBox="1"/>
          <p:nvPr/>
        </p:nvSpPr>
        <p:spPr>
          <a:xfrm>
            <a:off x="1097280" y="2926080"/>
            <a:ext cx="8229600" cy="640080"/>
          </a:xfrm>
          <a:prstGeom prst="rect">
            <a:avLst/>
          </a:prstGeom>
          <a:noFill/>
        </p:spPr>
        <p:txBody>
          <a:bodyPr wrap="square"/>
          <a:lstStyle/>
          <a:p>
            <a:pPr algn="l">
              <a:spcBef>
                <a:spcPts val="0"/>
              </a:spcBef>
              <a:spcAft>
                <a:spcPts val="0"/>
              </a:spcAft>
              <a:defRPr sz="1500" b="0">
                <a:solidFill>
                  <a:srgbClr val="8C857B"/>
                </a:solidFill>
                <a:latin typeface="Calibri"/>
              </a:defRPr>
            </a:pPr>
            <a:r>
              <a:t>Most boards are overpaying for vendor contracts and scrambling to meet compliance deadlines.</a:t>
            </a:r>
            <a:br/>
            <a:r>
              <a:t>BoardIQ changes that — here’s how to get started:</a:t>
            </a:r>
          </a:p>
        </p:txBody>
      </p:sp>
      <p:sp>
        <p:nvSpPr>
          <p:cNvPr id="5" name="Oval 4"/>
          <p:cNvSpPr/>
          <p:nvPr/>
        </p:nvSpPr>
        <p:spPr>
          <a:xfrm>
            <a:off x="1097280" y="3840480"/>
            <a:ext cx="347472" cy="347472"/>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C2825"/>
                </a:solidFill>
              </a:defRPr>
            </a:pPr>
            <a:r>
              <a:t>1</a:t>
            </a:r>
          </a:p>
        </p:txBody>
      </p:sp>
      <p:sp>
        <p:nvSpPr>
          <p:cNvPr id="6" name="TextBox 5"/>
          <p:cNvSpPr txBox="1"/>
          <p:nvPr/>
        </p:nvSpPr>
        <p:spPr>
          <a:xfrm>
            <a:off x="1645920" y="3813048"/>
            <a:ext cx="2011680" cy="320040"/>
          </a:xfrm>
          <a:prstGeom prst="rect">
            <a:avLst/>
          </a:prstGeom>
          <a:noFill/>
        </p:spPr>
        <p:txBody>
          <a:bodyPr wrap="square"/>
          <a:lstStyle/>
          <a:p>
            <a:pPr algn="l">
              <a:spcBef>
                <a:spcPts val="0"/>
              </a:spcBef>
              <a:spcAft>
                <a:spcPts val="0"/>
              </a:spcAft>
              <a:defRPr sz="1500" b="1">
                <a:solidFill>
                  <a:srgbClr val="FFFFFF"/>
                </a:solidFill>
                <a:latin typeface="Calibri"/>
              </a:defRPr>
            </a:pPr>
            <a:r>
              <a:t>Log in and explore</a:t>
            </a:r>
          </a:p>
        </p:txBody>
      </p:sp>
      <p:sp>
        <p:nvSpPr>
          <p:cNvPr id="7" name="TextBox 6"/>
          <p:cNvSpPr txBox="1"/>
          <p:nvPr/>
        </p:nvSpPr>
        <p:spPr>
          <a:xfrm>
            <a:off x="3657600" y="3813048"/>
            <a:ext cx="6858000" cy="320040"/>
          </a:xfrm>
          <a:prstGeom prst="rect">
            <a:avLst/>
          </a:prstGeom>
          <a:noFill/>
        </p:spPr>
        <p:txBody>
          <a:bodyPr wrap="square"/>
          <a:lstStyle/>
          <a:p>
            <a:pPr algn="l">
              <a:spcBef>
                <a:spcPts val="0"/>
              </a:spcBef>
              <a:spcAft>
                <a:spcPts val="0"/>
              </a:spcAft>
              <a:defRPr sz="1200" b="0">
                <a:solidFill>
                  <a:srgbClr val="8C857B"/>
                </a:solidFill>
                <a:latin typeface="Calibri"/>
              </a:defRPr>
            </a:pPr>
            <a:r>
              <a:t>See your building’s compliance dashboard, upcoming deadlines, and penalty exposure.</a:t>
            </a:r>
          </a:p>
        </p:txBody>
      </p:sp>
      <p:sp>
        <p:nvSpPr>
          <p:cNvPr id="8" name="Oval 7"/>
          <p:cNvSpPr/>
          <p:nvPr/>
        </p:nvSpPr>
        <p:spPr>
          <a:xfrm>
            <a:off x="1097280" y="4480560"/>
            <a:ext cx="347472" cy="347472"/>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C2825"/>
                </a:solidFill>
              </a:defRPr>
            </a:pPr>
            <a:r>
              <a:t>2</a:t>
            </a:r>
          </a:p>
        </p:txBody>
      </p:sp>
      <p:sp>
        <p:nvSpPr>
          <p:cNvPr id="9" name="TextBox 8"/>
          <p:cNvSpPr txBox="1"/>
          <p:nvPr/>
        </p:nvSpPr>
        <p:spPr>
          <a:xfrm>
            <a:off x="1645920" y="4453128"/>
            <a:ext cx="2011680" cy="320040"/>
          </a:xfrm>
          <a:prstGeom prst="rect">
            <a:avLst/>
          </a:prstGeom>
          <a:noFill/>
        </p:spPr>
        <p:txBody>
          <a:bodyPr wrap="square"/>
          <a:lstStyle/>
          <a:p>
            <a:pPr algn="l">
              <a:spcBef>
                <a:spcPts val="0"/>
              </a:spcBef>
              <a:spcAft>
                <a:spcPts val="0"/>
              </a:spcAft>
              <a:defRPr sz="1500" b="1">
                <a:solidFill>
                  <a:srgbClr val="FFFFFF"/>
                </a:solidFill>
                <a:latin typeface="Calibri"/>
              </a:defRPr>
            </a:pPr>
            <a:r>
              <a:t>Upload invoices</a:t>
            </a:r>
          </a:p>
        </p:txBody>
      </p:sp>
      <p:sp>
        <p:nvSpPr>
          <p:cNvPr id="10" name="TextBox 9"/>
          <p:cNvSpPr txBox="1"/>
          <p:nvPr/>
        </p:nvSpPr>
        <p:spPr>
          <a:xfrm>
            <a:off x="3657600" y="4453128"/>
            <a:ext cx="6858000" cy="320040"/>
          </a:xfrm>
          <a:prstGeom prst="rect">
            <a:avLst/>
          </a:prstGeom>
          <a:noFill/>
        </p:spPr>
        <p:txBody>
          <a:bodyPr wrap="square"/>
          <a:lstStyle/>
          <a:p>
            <a:pPr algn="l">
              <a:spcBef>
                <a:spcPts val="0"/>
              </a:spcBef>
              <a:spcAft>
                <a:spcPts val="0"/>
              </a:spcAft>
              <a:defRPr sz="1200" b="0">
                <a:solidFill>
                  <a:srgbClr val="8C857B"/>
                </a:solidFill>
                <a:latin typeface="Calibri"/>
              </a:defRPr>
            </a:pPr>
            <a:r>
              <a:t>Our AI extracts vendor costs and benchmarks them against similar buildings instantly.</a:t>
            </a:r>
          </a:p>
        </p:txBody>
      </p:sp>
      <p:sp>
        <p:nvSpPr>
          <p:cNvPr id="11" name="Oval 10"/>
          <p:cNvSpPr/>
          <p:nvPr/>
        </p:nvSpPr>
        <p:spPr>
          <a:xfrm>
            <a:off x="1097280" y="5120640"/>
            <a:ext cx="347472" cy="347472"/>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C2825"/>
                </a:solidFill>
              </a:defRPr>
            </a:pPr>
            <a:r>
              <a:t>3</a:t>
            </a:r>
          </a:p>
        </p:txBody>
      </p:sp>
      <p:sp>
        <p:nvSpPr>
          <p:cNvPr id="12" name="TextBox 11"/>
          <p:cNvSpPr txBox="1"/>
          <p:nvPr/>
        </p:nvSpPr>
        <p:spPr>
          <a:xfrm>
            <a:off x="1645920" y="5093208"/>
            <a:ext cx="2011680" cy="320040"/>
          </a:xfrm>
          <a:prstGeom prst="rect">
            <a:avLst/>
          </a:prstGeom>
          <a:noFill/>
        </p:spPr>
        <p:txBody>
          <a:bodyPr wrap="square"/>
          <a:lstStyle/>
          <a:p>
            <a:pPr algn="l">
              <a:spcBef>
                <a:spcPts val="0"/>
              </a:spcBef>
              <a:spcAft>
                <a:spcPts val="0"/>
              </a:spcAft>
              <a:defRPr sz="1500" b="1">
                <a:solidFill>
                  <a:srgbClr val="FFFFFF"/>
                </a:solidFill>
                <a:latin typeface="Calibri"/>
              </a:defRPr>
            </a:pPr>
            <a:r>
              <a:t>Review contracts</a:t>
            </a:r>
          </a:p>
        </p:txBody>
      </p:sp>
      <p:sp>
        <p:nvSpPr>
          <p:cNvPr id="13" name="TextBox 12"/>
          <p:cNvSpPr txBox="1"/>
          <p:nvPr/>
        </p:nvSpPr>
        <p:spPr>
          <a:xfrm>
            <a:off x="3657600" y="5093208"/>
            <a:ext cx="6858000" cy="320040"/>
          </a:xfrm>
          <a:prstGeom prst="rect">
            <a:avLst/>
          </a:prstGeom>
          <a:noFill/>
        </p:spPr>
        <p:txBody>
          <a:bodyPr wrap="square"/>
          <a:lstStyle/>
          <a:p>
            <a:pPr algn="l">
              <a:spcBef>
                <a:spcPts val="0"/>
              </a:spcBef>
              <a:spcAft>
                <a:spcPts val="0"/>
              </a:spcAft>
              <a:defRPr sz="1200" b="0">
                <a:solidFill>
                  <a:srgbClr val="8C857B"/>
                </a:solidFill>
                <a:latin typeface="Calibri"/>
              </a:defRPr>
            </a:pPr>
            <a:r>
              <a:t>Spot expiring agreements, identify overpayments, and launch competitive bids.</a:t>
            </a:r>
          </a:p>
        </p:txBody>
      </p:sp>
      <p:sp>
        <p:nvSpPr>
          <p:cNvPr id="14" name="Oval 13"/>
          <p:cNvSpPr/>
          <p:nvPr/>
        </p:nvSpPr>
        <p:spPr>
          <a:xfrm>
            <a:off x="1097280" y="5760719"/>
            <a:ext cx="347472" cy="347472"/>
          </a:xfrm>
          <a:prstGeom prst="ellipse">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C2825"/>
                </a:solidFill>
              </a:defRPr>
            </a:pPr>
            <a:r>
              <a:t>4</a:t>
            </a:r>
          </a:p>
        </p:txBody>
      </p:sp>
      <p:sp>
        <p:nvSpPr>
          <p:cNvPr id="15" name="TextBox 14"/>
          <p:cNvSpPr txBox="1"/>
          <p:nvPr/>
        </p:nvSpPr>
        <p:spPr>
          <a:xfrm>
            <a:off x="1645920" y="5733287"/>
            <a:ext cx="2011680" cy="320040"/>
          </a:xfrm>
          <a:prstGeom prst="rect">
            <a:avLst/>
          </a:prstGeom>
          <a:noFill/>
        </p:spPr>
        <p:txBody>
          <a:bodyPr wrap="square"/>
          <a:lstStyle/>
          <a:p>
            <a:pPr algn="l">
              <a:spcBef>
                <a:spcPts val="0"/>
              </a:spcBef>
              <a:spcAft>
                <a:spcPts val="0"/>
              </a:spcAft>
              <a:defRPr sz="1500" b="1">
                <a:solidFill>
                  <a:srgbClr val="FFFFFF"/>
                </a:solidFill>
                <a:latin typeface="Calibri"/>
              </a:defRPr>
            </a:pPr>
            <a:r>
              <a:t>Save money</a:t>
            </a:r>
          </a:p>
        </p:txBody>
      </p:sp>
      <p:sp>
        <p:nvSpPr>
          <p:cNvPr id="16" name="TextBox 15"/>
          <p:cNvSpPr txBox="1"/>
          <p:nvPr/>
        </p:nvSpPr>
        <p:spPr>
          <a:xfrm>
            <a:off x="3657600" y="5733287"/>
            <a:ext cx="6858000" cy="320040"/>
          </a:xfrm>
          <a:prstGeom prst="rect">
            <a:avLst/>
          </a:prstGeom>
          <a:noFill/>
        </p:spPr>
        <p:txBody>
          <a:bodyPr wrap="square"/>
          <a:lstStyle/>
          <a:p>
            <a:pPr algn="l">
              <a:spcBef>
                <a:spcPts val="0"/>
              </a:spcBef>
              <a:spcAft>
                <a:spcPts val="0"/>
              </a:spcAft>
              <a:defRPr sz="1200" b="0">
                <a:solidFill>
                  <a:srgbClr val="8C857B"/>
                </a:solidFill>
                <a:latin typeface="Calibri"/>
              </a:defRPr>
            </a:pPr>
            <a:r>
              <a:t>Boards using BoardIQ identify an average of $49,371 in annual savings.</a:t>
            </a:r>
          </a:p>
        </p:txBody>
      </p:sp>
      <p:sp>
        <p:nvSpPr>
          <p:cNvPr id="17" name="Rectangle 16"/>
          <p:cNvSpPr/>
          <p:nvPr/>
        </p:nvSpPr>
        <p:spPr>
          <a:xfrm>
            <a:off x="0" y="6217920"/>
            <a:ext cx="12191695" cy="640080"/>
          </a:xfrm>
          <a:prstGeom prst="rect">
            <a:avLst/>
          </a:prstGeom>
          <a:solidFill>
            <a:srgbClr val="C48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0" y="6291072"/>
            <a:ext cx="12191695" cy="365760"/>
          </a:xfrm>
          <a:prstGeom prst="rect">
            <a:avLst/>
          </a:prstGeom>
          <a:noFill/>
        </p:spPr>
        <p:txBody>
          <a:bodyPr wrap="square"/>
          <a:lstStyle/>
          <a:p>
            <a:pPr algn="ctr">
              <a:spcBef>
                <a:spcPts val="0"/>
              </a:spcBef>
              <a:spcAft>
                <a:spcPts val="0"/>
              </a:spcAft>
              <a:defRPr sz="1400" b="1">
                <a:solidFill>
                  <a:srgbClr val="2C2825"/>
                </a:solidFill>
                <a:latin typeface="Calibri"/>
              </a:defRPr>
            </a:pPr>
            <a:r>
              <a:t>www.boardiq.co   |   hello@boardiq.co   |   Built for NYC Co-ops &amp; Condos</a:t>
            </a:r>
          </a:p>
        </p:txBody>
      </p:sp>
      <p:sp>
        <p:nvSpPr>
          <p:cNvPr id="19" name="TextBox 18"/>
          <p:cNvSpPr txBox="1"/>
          <p:nvPr/>
        </p:nvSpPr>
        <p:spPr>
          <a:xfrm>
            <a:off x="10789920" y="6400800"/>
            <a:ext cx="1097280" cy="365760"/>
          </a:xfrm>
          <a:prstGeom prst="rect">
            <a:avLst/>
          </a:prstGeom>
          <a:noFill/>
        </p:spPr>
        <p:txBody>
          <a:bodyPr wrap="square"/>
          <a:lstStyle/>
          <a:p>
            <a:pPr algn="r">
              <a:spcBef>
                <a:spcPts val="0"/>
              </a:spcBef>
              <a:spcAft>
                <a:spcPts val="0"/>
              </a:spcAft>
              <a:defRPr sz="900" b="0">
                <a:solidFill>
                  <a:srgbClr val="8C857B"/>
                </a:solidFill>
                <a:latin typeface="Calibri"/>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